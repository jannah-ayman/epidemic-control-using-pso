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F5F5"/>
    <a:srgbClr val="E63946"/>
    <a:srgbClr val="FFE4E4"/>
    <a:srgbClr val="FFF8DF"/>
    <a:srgbClr val="B85C00"/>
    <a:srgbClr val="2CC552"/>
    <a:srgbClr val="E6FFF1"/>
    <a:srgbClr val="6B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8DAF-2695-4B7A-9A00-AA04A4602490}" type="datetimeFigureOut">
              <a:rPr lang="en-US" smtClean="0"/>
              <a:t>21-Apr-26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5DDB2-82AF-43EC-8F9B-B5EEF9C6DE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61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B5DDB2-82AF-43EC-8F9B-B5EEF9C6DE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87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57E7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1A2D3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21-Apr-26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57E7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1A2D3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21-Apr-26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57E7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21-Apr-26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57E7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21-Apr-26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21-Apr-26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AF6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297679"/>
            <a:ext cx="9144000" cy="845819"/>
          </a:xfrm>
          <a:custGeom>
            <a:avLst/>
            <a:gdLst/>
            <a:ahLst/>
            <a:cxnLst/>
            <a:rect l="l" t="t" r="r" b="b"/>
            <a:pathLst>
              <a:path w="9144000" h="845820">
                <a:moveTo>
                  <a:pt x="9144000" y="0"/>
                </a:moveTo>
                <a:lnTo>
                  <a:pt x="0" y="0"/>
                </a:lnTo>
                <a:lnTo>
                  <a:pt x="0" y="845819"/>
                </a:lnTo>
                <a:lnTo>
                  <a:pt x="9144000" y="845819"/>
                </a:lnTo>
                <a:lnTo>
                  <a:pt x="9144000" y="0"/>
                </a:lnTo>
                <a:close/>
              </a:path>
            </a:pathLst>
          </a:custGeom>
          <a:solidFill>
            <a:srgbClr val="1A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4280" y="121107"/>
            <a:ext cx="7495438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57E7E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09159" y="1089812"/>
            <a:ext cx="4206240" cy="1159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1A2D35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21-Apr-26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9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A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188720" cy="2194560"/>
            <a:chOff x="0" y="0"/>
            <a:chExt cx="1188720" cy="21945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8719" cy="118872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" y="1097280"/>
              <a:ext cx="1097280" cy="109728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400" y="0"/>
            <a:ext cx="1371600" cy="109727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46719" y="3108960"/>
            <a:ext cx="1097279" cy="13715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474720"/>
            <a:ext cx="1005839" cy="118871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00400" y="0"/>
            <a:ext cx="914400" cy="54863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43600" y="4114800"/>
            <a:ext cx="1005840" cy="1005838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172770" y="844116"/>
            <a:ext cx="6662928" cy="3194303"/>
            <a:chOff x="1208532" y="440436"/>
            <a:chExt cx="6662928" cy="3194303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8532" y="440436"/>
              <a:ext cx="6662928" cy="319430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371600" y="548640"/>
              <a:ext cx="6400800" cy="3017520"/>
            </a:xfrm>
            <a:custGeom>
              <a:avLst/>
              <a:gdLst/>
              <a:ahLst/>
              <a:cxnLst/>
              <a:rect l="l" t="t" r="r" b="b"/>
              <a:pathLst>
                <a:path w="6400800" h="3017520">
                  <a:moveTo>
                    <a:pt x="0" y="3017520"/>
                  </a:moveTo>
                  <a:lnTo>
                    <a:pt x="6400800" y="3017520"/>
                  </a:lnTo>
                  <a:lnTo>
                    <a:pt x="6400800" y="0"/>
                  </a:lnTo>
                  <a:lnTo>
                    <a:pt x="0" y="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1600" y="548640"/>
              <a:ext cx="6400800" cy="3017520"/>
            </a:xfrm>
            <a:custGeom>
              <a:avLst/>
              <a:gdLst/>
              <a:ahLst/>
              <a:cxnLst/>
              <a:rect l="l" t="t" r="r" b="b"/>
              <a:pathLst>
                <a:path w="6400800" h="4023360">
                  <a:moveTo>
                    <a:pt x="0" y="4023360"/>
                  </a:moveTo>
                  <a:lnTo>
                    <a:pt x="6400800" y="4023360"/>
                  </a:lnTo>
                  <a:lnTo>
                    <a:pt x="6400800" y="0"/>
                  </a:lnTo>
                  <a:lnTo>
                    <a:pt x="0" y="0"/>
                  </a:lnTo>
                  <a:lnTo>
                    <a:pt x="0" y="4023360"/>
                  </a:lnTo>
                  <a:close/>
                </a:path>
              </a:pathLst>
            </a:custGeom>
            <a:ln w="1270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749223" y="1553833"/>
            <a:ext cx="562483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spc="65" dirty="0"/>
              <a:t>EPIDEMIC</a:t>
            </a:r>
            <a:r>
              <a:rPr sz="3800" spc="204" dirty="0"/>
              <a:t> </a:t>
            </a:r>
            <a:r>
              <a:rPr sz="3800" spc="60" dirty="0"/>
              <a:t>CONTROL</a:t>
            </a:r>
            <a:endParaRPr sz="3800" dirty="0"/>
          </a:p>
        </p:txBody>
      </p:sp>
      <p:sp>
        <p:nvSpPr>
          <p:cNvPr id="17" name="object 17"/>
          <p:cNvSpPr txBox="1"/>
          <p:nvPr/>
        </p:nvSpPr>
        <p:spPr>
          <a:xfrm>
            <a:off x="2656003" y="2379841"/>
            <a:ext cx="3811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A2D35"/>
                </a:solidFill>
                <a:latin typeface="Arial"/>
                <a:cs typeface="Arial"/>
              </a:rPr>
              <a:t>Using</a:t>
            </a:r>
            <a:r>
              <a:rPr sz="1800" b="1" spc="-2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A2D35"/>
                </a:solidFill>
                <a:latin typeface="Arial"/>
                <a:cs typeface="Arial"/>
              </a:rPr>
              <a:t>Particle</a:t>
            </a:r>
            <a:r>
              <a:rPr sz="1800" b="1" spc="-2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1A2D35"/>
                </a:solidFill>
                <a:latin typeface="Arial"/>
                <a:cs typeface="Arial"/>
              </a:rPr>
              <a:t>Swarm</a:t>
            </a:r>
            <a:r>
              <a:rPr sz="1800" b="1" spc="-5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1A2D35"/>
                </a:solidFill>
                <a:latin typeface="Arial"/>
                <a:cs typeface="Arial"/>
              </a:rPr>
              <a:t>Optimization</a:t>
            </a:r>
            <a:endParaRPr sz="1800" dirty="0">
              <a:latin typeface="Arial"/>
              <a:cs typeface="Arial"/>
            </a:endParaRPr>
          </a:p>
        </p:txBody>
      </p:sp>
      <p:pic>
        <p:nvPicPr>
          <p:cNvPr id="29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33017" y="4061281"/>
            <a:ext cx="822960" cy="822958"/>
          </a:xfrm>
          <a:prstGeom prst="rect">
            <a:avLst/>
          </a:prstGeom>
        </p:spPr>
      </p:pic>
      <p:sp>
        <p:nvSpPr>
          <p:cNvPr id="30" name="object 17"/>
          <p:cNvSpPr txBox="1"/>
          <p:nvPr/>
        </p:nvSpPr>
        <p:spPr>
          <a:xfrm>
            <a:off x="2208028" y="2958457"/>
            <a:ext cx="442882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i="1" dirty="0" smtClean="0">
                <a:solidFill>
                  <a:srgbClr val="6B8989"/>
                </a:solidFill>
                <a:latin typeface="Arial"/>
                <a:cs typeface="Arial"/>
              </a:rPr>
              <a:t>Optimizing city lockdown policies to minimize infections while protecting the economy</a:t>
            </a:r>
            <a:endParaRPr sz="1400" i="1" dirty="0">
              <a:solidFill>
                <a:srgbClr val="6B8989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160520"/>
            <a:ext cx="785952" cy="98297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1112" y="-50"/>
            <a:ext cx="822959" cy="6968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63840" y="4114800"/>
            <a:ext cx="1005840" cy="100583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21991" y="136905"/>
            <a:ext cx="3700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THE</a:t>
            </a:r>
            <a:r>
              <a:rPr sz="3600" spc="-95" dirty="0"/>
              <a:t> </a:t>
            </a:r>
            <a:r>
              <a:rPr sz="3600" spc="-10" dirty="0"/>
              <a:t>PROBLEM</a:t>
            </a:r>
            <a:endParaRPr sz="3600"/>
          </a:p>
        </p:txBody>
      </p:sp>
      <p:grpSp>
        <p:nvGrpSpPr>
          <p:cNvPr id="7" name="object 7"/>
          <p:cNvGrpSpPr/>
          <p:nvPr/>
        </p:nvGrpSpPr>
        <p:grpSpPr>
          <a:xfrm>
            <a:off x="44196" y="687336"/>
            <a:ext cx="4422775" cy="3462654"/>
            <a:chOff x="44196" y="687336"/>
            <a:chExt cx="4422775" cy="3462654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96" y="687336"/>
              <a:ext cx="4422648" cy="34625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6832" y="1252727"/>
              <a:ext cx="4160520" cy="2743200"/>
            </a:xfrm>
            <a:custGeom>
              <a:avLst/>
              <a:gdLst/>
              <a:ahLst/>
              <a:cxnLst/>
              <a:rect l="l" t="t" r="r" b="b"/>
              <a:pathLst>
                <a:path w="4160520" h="2743200">
                  <a:moveTo>
                    <a:pt x="0" y="2743200"/>
                  </a:moveTo>
                  <a:lnTo>
                    <a:pt x="4160520" y="274320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6832" y="795527"/>
            <a:ext cx="4160520" cy="457200"/>
          </a:xfrm>
          <a:prstGeom prst="rect">
            <a:avLst/>
          </a:prstGeom>
          <a:solidFill>
            <a:srgbClr val="157E7E"/>
          </a:solidFill>
        </p:spPr>
        <p:txBody>
          <a:bodyPr vert="horz" wrap="square" lIns="0" tIns="1104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870"/>
              </a:spcBef>
            </a:pPr>
            <a:r>
              <a:rPr sz="1400" spc="-10" dirty="0">
                <a:solidFill>
                  <a:srgbClr val="FFFFFF"/>
                </a:solidFill>
                <a:latin typeface="Arial Black"/>
                <a:cs typeface="Arial Black"/>
              </a:rPr>
              <a:t>SCENARIO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0695" y="1243832"/>
            <a:ext cx="3670935" cy="1392561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655"/>
              </a:spcBef>
              <a:buClr>
                <a:srgbClr val="227769"/>
              </a:buClr>
              <a:buSzPct val="200000"/>
              <a:buChar char="•"/>
              <a:tabLst>
                <a:tab pos="183515" algn="l"/>
              </a:tabLst>
            </a:pPr>
            <a:r>
              <a:rPr lang="en-US" sz="120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COVID-like outbreak is spreading across a city with 8 distinct zones</a:t>
            </a:r>
            <a:endParaRPr lang="en-US" sz="1200" spc="-25" dirty="0" smtClean="0">
              <a:solidFill>
                <a:srgbClr val="1A2D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3515" indent="-170815">
              <a:spcBef>
                <a:spcPts val="655"/>
              </a:spcBef>
              <a:buClr>
                <a:srgbClr val="227769"/>
              </a:buClr>
              <a:buSzPct val="200000"/>
              <a:buFontTx/>
              <a:buChar char="•"/>
              <a:tabLst>
                <a:tab pos="183515" algn="l"/>
              </a:tabLst>
            </a:pPr>
            <a:r>
              <a:rPr lang="en-US" sz="120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lang="en-US" sz="1200" spc="-4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zone</a:t>
            </a:r>
            <a:r>
              <a:rPr lang="en-US" sz="1200" spc="-25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en-US" sz="1200" spc="-45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en-US" sz="1200" spc="-5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population,</a:t>
            </a:r>
            <a:r>
              <a:rPr lang="en-US" sz="1200" spc="-45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</a:t>
            </a:r>
            <a:r>
              <a:rPr lang="en-US" sz="1200" spc="-2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level,</a:t>
            </a:r>
            <a:r>
              <a:rPr lang="en-US" sz="1200" spc="-15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spc="-25" dirty="0" smtClean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economic importance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2880" marR="5080" indent="-170815">
              <a:lnSpc>
                <a:spcPct val="130000"/>
              </a:lnSpc>
              <a:buClr>
                <a:srgbClr val="227769"/>
              </a:buClr>
              <a:buSzPct val="200000"/>
              <a:buChar char="•"/>
              <a:tabLst>
                <a:tab pos="184785" algn="l"/>
              </a:tabLst>
            </a:pPr>
            <a:r>
              <a:rPr sz="120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1200" spc="-35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government</a:t>
            </a:r>
            <a:r>
              <a:rPr sz="1200" spc="-5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</a:t>
            </a:r>
            <a:r>
              <a:rPr sz="1200" spc="-25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decide:</a:t>
            </a:r>
            <a:r>
              <a:rPr sz="1200" spc="-5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</a:t>
            </a:r>
            <a:r>
              <a:rPr sz="1200" spc="-4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strictly</a:t>
            </a:r>
            <a:r>
              <a:rPr sz="1200" spc="-5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1200" spc="-2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 	</a:t>
            </a:r>
            <a:r>
              <a:rPr sz="120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</a:t>
            </a:r>
            <a:r>
              <a:rPr sz="1200" spc="-25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200" spc="-10" dirty="0">
                <a:solidFill>
                  <a:srgbClr val="1A2D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zone?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3992" y="2705607"/>
            <a:ext cx="3840479" cy="530860"/>
          </a:xfrm>
          <a:prstGeom prst="rect">
            <a:avLst/>
          </a:prstGeom>
          <a:solidFill>
            <a:srgbClr val="FFE4E4"/>
          </a:solidFill>
          <a:ln w="19050">
            <a:solidFill>
              <a:srgbClr val="E63946"/>
            </a:solidFill>
          </a:ln>
        </p:spPr>
        <p:txBody>
          <a:bodyPr vert="horz" wrap="square" lIns="0" tIns="133985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1055"/>
              </a:spcBef>
            </a:pPr>
            <a:r>
              <a:rPr sz="1150" b="1" dirty="0">
                <a:solidFill>
                  <a:srgbClr val="E63946"/>
                </a:solidFill>
                <a:latin typeface="Arial"/>
                <a:cs typeface="Arial"/>
              </a:rPr>
              <a:t>Too</a:t>
            </a:r>
            <a:r>
              <a:rPr sz="1150" b="1" spc="-10" dirty="0">
                <a:solidFill>
                  <a:srgbClr val="E63946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63946"/>
                </a:solidFill>
                <a:latin typeface="Arial"/>
                <a:cs typeface="Arial"/>
              </a:rPr>
              <a:t>strict</a:t>
            </a:r>
            <a:r>
              <a:rPr sz="1150" b="1" spc="325" dirty="0">
                <a:solidFill>
                  <a:srgbClr val="E63946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63946"/>
                </a:solidFill>
                <a:latin typeface="Arial"/>
                <a:cs typeface="Arial"/>
              </a:rPr>
              <a:t>→</a:t>
            </a:r>
            <a:r>
              <a:rPr sz="1150" b="1" spc="300" dirty="0">
                <a:solidFill>
                  <a:srgbClr val="E63946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E63946"/>
                </a:solidFill>
                <a:latin typeface="Arial"/>
                <a:cs typeface="Arial"/>
              </a:rPr>
              <a:t>economy</a:t>
            </a:r>
            <a:r>
              <a:rPr sz="1150" b="1" spc="-25" dirty="0">
                <a:solidFill>
                  <a:srgbClr val="E63946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E63946"/>
                </a:solidFill>
                <a:latin typeface="Arial"/>
                <a:cs typeface="Arial"/>
              </a:rPr>
              <a:t>collapses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992" y="3328415"/>
            <a:ext cx="3840479" cy="530860"/>
          </a:xfrm>
          <a:prstGeom prst="rect">
            <a:avLst/>
          </a:prstGeom>
          <a:solidFill>
            <a:srgbClr val="FFF3CD"/>
          </a:solidFill>
          <a:ln w="19050">
            <a:solidFill>
              <a:srgbClr val="DF7A00"/>
            </a:solidFill>
          </a:ln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150" dirty="0">
              <a:latin typeface="Times New Roman"/>
              <a:cs typeface="Times New Roman"/>
            </a:endParaRPr>
          </a:p>
          <a:p>
            <a:pPr marL="182880">
              <a:lnSpc>
                <a:spcPct val="100000"/>
              </a:lnSpc>
            </a:pPr>
            <a:r>
              <a:rPr sz="1150" b="1" dirty="0">
                <a:solidFill>
                  <a:srgbClr val="B85C00"/>
                </a:solidFill>
                <a:latin typeface="Arial"/>
                <a:cs typeface="Arial"/>
              </a:rPr>
              <a:t>Too</a:t>
            </a:r>
            <a:r>
              <a:rPr sz="1150" b="1" spc="-10" dirty="0">
                <a:solidFill>
                  <a:srgbClr val="B85C0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B85C00"/>
                </a:solidFill>
                <a:latin typeface="Arial"/>
                <a:cs typeface="Arial"/>
              </a:rPr>
              <a:t>lenient</a:t>
            </a:r>
            <a:r>
              <a:rPr sz="1150" b="1" spc="300" dirty="0">
                <a:solidFill>
                  <a:srgbClr val="B85C0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B85C00"/>
                </a:solidFill>
                <a:latin typeface="Arial"/>
                <a:cs typeface="Arial"/>
              </a:rPr>
              <a:t>→</a:t>
            </a:r>
            <a:r>
              <a:rPr sz="1150" b="1" spc="300" dirty="0">
                <a:solidFill>
                  <a:srgbClr val="B85C00"/>
                </a:solidFill>
                <a:latin typeface="Arial"/>
                <a:cs typeface="Arial"/>
              </a:rPr>
              <a:t> </a:t>
            </a:r>
            <a:r>
              <a:rPr sz="1150" b="1" dirty="0">
                <a:solidFill>
                  <a:srgbClr val="B85C00"/>
                </a:solidFill>
                <a:latin typeface="Arial"/>
                <a:cs typeface="Arial"/>
              </a:rPr>
              <a:t>hospitals</a:t>
            </a:r>
            <a:r>
              <a:rPr sz="1150" b="1" spc="-30" dirty="0">
                <a:solidFill>
                  <a:srgbClr val="B85C00"/>
                </a:solidFill>
                <a:latin typeface="Arial"/>
                <a:cs typeface="Arial"/>
              </a:rPr>
              <a:t> </a:t>
            </a:r>
            <a:r>
              <a:rPr sz="1150" b="1" spc="-10" dirty="0">
                <a:solidFill>
                  <a:srgbClr val="B85C00"/>
                </a:solidFill>
                <a:latin typeface="Arial"/>
                <a:cs typeface="Arial"/>
              </a:rPr>
              <a:t>overwhelmed</a:t>
            </a:r>
            <a:endParaRPr sz="115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82158" y="4563170"/>
            <a:ext cx="53625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sz="1400" b="1" i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optimal</a:t>
            </a:r>
            <a:r>
              <a:rPr sz="1400" b="1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policy</a:t>
            </a:r>
            <a:r>
              <a:rPr sz="1400" b="1" i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is</a:t>
            </a:r>
            <a:r>
              <a:rPr sz="1400" b="1" i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not</a:t>
            </a:r>
            <a:r>
              <a:rPr sz="1400" b="1" i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obvious</a:t>
            </a:r>
            <a:r>
              <a:rPr sz="1400" b="1" i="1" spc="-1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1400" b="1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PSO</a:t>
            </a:r>
            <a:r>
              <a:rPr sz="1400" b="1" i="1" spc="-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400" b="1" i="1" spc="-5" dirty="0" smtClean="0">
                <a:solidFill>
                  <a:schemeClr val="bg1"/>
                </a:solidFill>
                <a:latin typeface="Arial"/>
                <a:cs typeface="Arial"/>
              </a:rPr>
              <a:t> tries to </a:t>
            </a:r>
            <a:r>
              <a:rPr sz="1400" b="1" i="1" dirty="0" smtClean="0">
                <a:solidFill>
                  <a:schemeClr val="bg1"/>
                </a:solidFill>
                <a:latin typeface="Arial"/>
                <a:cs typeface="Arial"/>
              </a:rPr>
              <a:t>finds</a:t>
            </a:r>
            <a:r>
              <a:rPr sz="1400" b="1" i="1" spc="-25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spc="-25" dirty="0">
                <a:solidFill>
                  <a:schemeClr val="bg1"/>
                </a:solidFill>
                <a:latin typeface="Arial"/>
                <a:cs typeface="Arial"/>
              </a:rPr>
              <a:t>it.</a:t>
            </a:r>
            <a:endParaRPr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46091" y="687336"/>
            <a:ext cx="4422775" cy="3462654"/>
            <a:chOff x="4546091" y="687336"/>
            <a:chExt cx="4422775" cy="3462654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46091" y="687336"/>
              <a:ext cx="4422648" cy="34625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709159" y="1252727"/>
              <a:ext cx="4160520" cy="2743200"/>
            </a:xfrm>
            <a:custGeom>
              <a:avLst/>
              <a:gdLst/>
              <a:ahLst/>
              <a:cxnLst/>
              <a:rect l="l" t="t" r="r" b="b"/>
              <a:pathLst>
                <a:path w="4160520" h="2743200">
                  <a:moveTo>
                    <a:pt x="0" y="2743200"/>
                  </a:moveTo>
                  <a:lnTo>
                    <a:pt x="4160520" y="274320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709159" y="795527"/>
            <a:ext cx="4160520" cy="457200"/>
          </a:xfrm>
          <a:prstGeom prst="rect">
            <a:avLst/>
          </a:prstGeom>
          <a:solidFill>
            <a:srgbClr val="157E7E"/>
          </a:solidFill>
        </p:spPr>
        <p:txBody>
          <a:bodyPr vert="horz" wrap="square" lIns="0" tIns="11049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70"/>
              </a:spcBef>
            </a:pPr>
            <a:r>
              <a:rPr sz="1400" dirty="0">
                <a:solidFill>
                  <a:srgbClr val="FFFFFF"/>
                </a:solidFill>
                <a:latin typeface="Arial Black"/>
                <a:cs typeface="Arial Black"/>
              </a:rPr>
              <a:t>WHY</a:t>
            </a:r>
            <a:r>
              <a:rPr sz="14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Black"/>
                <a:cs typeface="Arial Black"/>
              </a:rPr>
              <a:t>PSO?</a:t>
            </a:r>
            <a:endParaRPr sz="1400">
              <a:latin typeface="Arial Black"/>
              <a:cs typeface="Arial Blac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36795" y="1380363"/>
            <a:ext cx="3859529" cy="732790"/>
            <a:chOff x="4836795" y="1380363"/>
            <a:chExt cx="3859529" cy="732790"/>
          </a:xfrm>
        </p:grpSpPr>
        <p:sp>
          <p:nvSpPr>
            <p:cNvPr id="23" name="object 23"/>
            <p:cNvSpPr/>
            <p:nvPr/>
          </p:nvSpPr>
          <p:spPr>
            <a:xfrm>
              <a:off x="4846320" y="1389888"/>
              <a:ext cx="3840479" cy="713740"/>
            </a:xfrm>
            <a:custGeom>
              <a:avLst/>
              <a:gdLst/>
              <a:ahLst/>
              <a:cxnLst/>
              <a:rect l="l" t="t" r="r" b="b"/>
              <a:pathLst>
                <a:path w="3840479" h="713739">
                  <a:moveTo>
                    <a:pt x="3840479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3840479" y="713232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F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46320" y="1389888"/>
              <a:ext cx="3840479" cy="713740"/>
            </a:xfrm>
            <a:custGeom>
              <a:avLst/>
              <a:gdLst/>
              <a:ahLst/>
              <a:cxnLst/>
              <a:rect l="l" t="t" r="r" b="b"/>
              <a:pathLst>
                <a:path w="3840479" h="713739">
                  <a:moveTo>
                    <a:pt x="0" y="713232"/>
                  </a:moveTo>
                  <a:lnTo>
                    <a:pt x="3840479" y="713232"/>
                  </a:lnTo>
                  <a:lnTo>
                    <a:pt x="3840479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9049">
              <a:solidFill>
                <a:srgbClr val="E639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026405" y="1566799"/>
            <a:ext cx="22097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E63946"/>
                </a:solidFill>
                <a:latin typeface="Segoe UI Symbol"/>
                <a:cs typeface="Segoe UI Symbol"/>
              </a:rPr>
              <a:t>✗</a:t>
            </a:r>
            <a:endParaRPr sz="2000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41569" y="1469897"/>
            <a:ext cx="1958975" cy="50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1A2D35"/>
                </a:solidFill>
                <a:latin typeface="Arial"/>
                <a:cs typeface="Arial"/>
              </a:rPr>
              <a:t>Brute</a:t>
            </a:r>
            <a:r>
              <a:rPr sz="1250" b="1" spc="-5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1A2D35"/>
                </a:solidFill>
                <a:latin typeface="Arial"/>
                <a:cs typeface="Arial"/>
              </a:rPr>
              <a:t>Force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Infinite</a:t>
            </a:r>
            <a:r>
              <a:rPr sz="1000" spc="-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combinations</a:t>
            </a:r>
            <a:r>
              <a:rPr sz="100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—</a:t>
            </a:r>
            <a:r>
              <a:rPr sz="1000" spc="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impossible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36795" y="2249042"/>
            <a:ext cx="3859529" cy="732790"/>
            <a:chOff x="4836795" y="2249042"/>
            <a:chExt cx="3859529" cy="732790"/>
          </a:xfrm>
        </p:grpSpPr>
        <p:sp>
          <p:nvSpPr>
            <p:cNvPr id="28" name="object 28"/>
            <p:cNvSpPr/>
            <p:nvPr/>
          </p:nvSpPr>
          <p:spPr>
            <a:xfrm>
              <a:off x="4846320" y="2258567"/>
              <a:ext cx="3840479" cy="713740"/>
            </a:xfrm>
            <a:custGeom>
              <a:avLst/>
              <a:gdLst/>
              <a:ahLst/>
              <a:cxnLst/>
              <a:rect l="l" t="t" r="r" b="b"/>
              <a:pathLst>
                <a:path w="3840479" h="713739">
                  <a:moveTo>
                    <a:pt x="3840479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3840479" y="713232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FFE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46320" y="2258567"/>
              <a:ext cx="3840479" cy="713740"/>
            </a:xfrm>
            <a:custGeom>
              <a:avLst/>
              <a:gdLst/>
              <a:ahLst/>
              <a:cxnLst/>
              <a:rect l="l" t="t" r="r" b="b"/>
              <a:pathLst>
                <a:path w="3840479" h="713739">
                  <a:moveTo>
                    <a:pt x="0" y="713232"/>
                  </a:moveTo>
                  <a:lnTo>
                    <a:pt x="3840479" y="713232"/>
                  </a:lnTo>
                  <a:lnTo>
                    <a:pt x="3840479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9049">
              <a:solidFill>
                <a:srgbClr val="E639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026405" y="2435733"/>
            <a:ext cx="22097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E63946"/>
                </a:solidFill>
                <a:latin typeface="Segoe UI Symbol"/>
                <a:cs typeface="Segoe UI Symbol"/>
              </a:rPr>
              <a:t>✗</a:t>
            </a:r>
            <a:endParaRPr sz="2000">
              <a:latin typeface="Segoe UI Symbol"/>
              <a:cs typeface="Segoe UI 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41569" y="2338832"/>
            <a:ext cx="1762760" cy="501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1A2D35"/>
                </a:solidFill>
                <a:latin typeface="Arial"/>
                <a:cs typeface="Arial"/>
              </a:rPr>
              <a:t>Genetic</a:t>
            </a:r>
            <a:r>
              <a:rPr sz="1250" b="1" spc="-8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250" b="1" spc="-10" dirty="0">
                <a:solidFill>
                  <a:srgbClr val="1A2D35"/>
                </a:solidFill>
                <a:latin typeface="Arial"/>
                <a:cs typeface="Arial"/>
              </a:rPr>
              <a:t>Algorithm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Designed</a:t>
            </a:r>
            <a:r>
              <a:rPr sz="100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for</a:t>
            </a:r>
            <a:r>
              <a:rPr sz="1000" spc="-4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discrete</a:t>
            </a:r>
            <a:r>
              <a:rPr sz="1000" spc="-4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problems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36795" y="3117723"/>
            <a:ext cx="3859529" cy="732790"/>
            <a:chOff x="4836795" y="3117723"/>
            <a:chExt cx="3859529" cy="732790"/>
          </a:xfrm>
        </p:grpSpPr>
        <p:sp>
          <p:nvSpPr>
            <p:cNvPr id="33" name="object 33"/>
            <p:cNvSpPr/>
            <p:nvPr/>
          </p:nvSpPr>
          <p:spPr>
            <a:xfrm>
              <a:off x="4846320" y="3127248"/>
              <a:ext cx="3840479" cy="713740"/>
            </a:xfrm>
            <a:custGeom>
              <a:avLst/>
              <a:gdLst/>
              <a:ahLst/>
              <a:cxnLst/>
              <a:rect l="l" t="t" r="r" b="b"/>
              <a:pathLst>
                <a:path w="3840479" h="713739">
                  <a:moveTo>
                    <a:pt x="3840479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3840479" y="713232"/>
                  </a:lnTo>
                  <a:lnTo>
                    <a:pt x="3840479" y="0"/>
                  </a:lnTo>
                  <a:close/>
                </a:path>
              </a:pathLst>
            </a:custGeom>
            <a:solidFill>
              <a:srgbClr val="E6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46320" y="3127248"/>
              <a:ext cx="3840479" cy="713740"/>
            </a:xfrm>
            <a:custGeom>
              <a:avLst/>
              <a:gdLst/>
              <a:ahLst/>
              <a:cxnLst/>
              <a:rect l="l" t="t" r="r" b="b"/>
              <a:pathLst>
                <a:path w="3840479" h="713739">
                  <a:moveTo>
                    <a:pt x="0" y="713232"/>
                  </a:moveTo>
                  <a:lnTo>
                    <a:pt x="3840479" y="713232"/>
                  </a:lnTo>
                  <a:lnTo>
                    <a:pt x="3840479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9049">
              <a:solidFill>
                <a:srgbClr val="2CC55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033517" y="3304108"/>
            <a:ext cx="2038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2CC552"/>
                </a:solidFill>
                <a:latin typeface="Segoe UI Symbol"/>
                <a:cs typeface="Segoe UI Symbol"/>
              </a:rPr>
              <a:t>✓</a:t>
            </a:r>
            <a:endParaRPr sz="2000">
              <a:latin typeface="Segoe UI Symbol"/>
              <a:cs typeface="Segoe UI 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441569" y="3207766"/>
            <a:ext cx="2596515" cy="50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1A2D35"/>
                </a:solidFill>
                <a:latin typeface="Arial"/>
                <a:cs typeface="Arial"/>
              </a:rPr>
              <a:t>PSO</a:t>
            </a:r>
            <a:r>
              <a:rPr sz="1250" b="1" spc="-1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endParaRPr sz="1250" dirty="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Built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for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continuous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real-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valued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search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spaces</a:t>
            </a:r>
            <a:endParaRPr sz="1000" dirty="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EAF6F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4328812"/>
            <a:ext cx="9144000" cy="814705"/>
          </a:xfrm>
          <a:custGeom>
            <a:avLst/>
            <a:gdLst/>
            <a:ahLst/>
            <a:cxnLst/>
            <a:rect l="l" t="t" r="r" b="b"/>
            <a:pathLst>
              <a:path w="9144000" h="814704">
                <a:moveTo>
                  <a:pt x="9144000" y="0"/>
                </a:moveTo>
                <a:lnTo>
                  <a:pt x="0" y="0"/>
                </a:lnTo>
                <a:lnTo>
                  <a:pt x="0" y="814687"/>
                </a:lnTo>
                <a:lnTo>
                  <a:pt x="9144000" y="814687"/>
                </a:lnTo>
                <a:lnTo>
                  <a:pt x="9144000" y="0"/>
                </a:lnTo>
                <a:close/>
              </a:path>
            </a:pathLst>
          </a:custGeom>
          <a:solidFill>
            <a:srgbClr val="1A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532" y="100584"/>
            <a:ext cx="914400" cy="914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6719" y="4266110"/>
            <a:ext cx="914400" cy="8773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292" y="4397392"/>
            <a:ext cx="777240" cy="74610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084702" y="-8758"/>
            <a:ext cx="2974975" cy="964565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0"/>
              </a:spcBef>
            </a:pPr>
            <a:r>
              <a:rPr sz="3400" dirty="0"/>
              <a:t>CITY</a:t>
            </a:r>
            <a:r>
              <a:rPr sz="3400" spc="-80" dirty="0"/>
              <a:t> </a:t>
            </a:r>
            <a:r>
              <a:rPr sz="3400" spc="-10" dirty="0"/>
              <a:t>ZONES</a:t>
            </a:r>
            <a:endParaRPr sz="3400"/>
          </a:p>
          <a:p>
            <a:pPr marL="1270" algn="ctr">
              <a:lnSpc>
                <a:spcPct val="100000"/>
              </a:lnSpc>
              <a:spcBef>
                <a:spcPts val="445"/>
              </a:spcBef>
            </a:pPr>
            <a:r>
              <a:rPr sz="1600" b="1" i="1" dirty="0">
                <a:solidFill>
                  <a:srgbClr val="6B8989"/>
                </a:solidFill>
                <a:latin typeface="Arial"/>
                <a:cs typeface="Arial"/>
              </a:rPr>
              <a:t>Problem</a:t>
            </a:r>
            <a:r>
              <a:rPr sz="1600" b="1" i="1" spc="-7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600" b="1" i="1" spc="-10" dirty="0">
                <a:solidFill>
                  <a:srgbClr val="6B8989"/>
                </a:solidFill>
                <a:latin typeface="Arial"/>
                <a:cs typeface="Arial"/>
              </a:rPr>
              <a:t>Setup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2879" y="1453896"/>
            <a:ext cx="8778240" cy="2771140"/>
            <a:chOff x="182879" y="1453896"/>
            <a:chExt cx="8778240" cy="2771140"/>
          </a:xfrm>
        </p:grpSpPr>
        <p:sp>
          <p:nvSpPr>
            <p:cNvPr id="9" name="object 9"/>
            <p:cNvSpPr/>
            <p:nvPr/>
          </p:nvSpPr>
          <p:spPr>
            <a:xfrm>
              <a:off x="182879" y="1453896"/>
              <a:ext cx="8778240" cy="338455"/>
            </a:xfrm>
            <a:custGeom>
              <a:avLst/>
              <a:gdLst/>
              <a:ahLst/>
              <a:cxnLst/>
              <a:rect l="l" t="t" r="r" b="b"/>
              <a:pathLst>
                <a:path w="8778240" h="338455">
                  <a:moveTo>
                    <a:pt x="8778240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8778240" y="338327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246119" y="1517904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19">
                  <a:moveTo>
                    <a:pt x="530352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30352" y="210312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FF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82879" y="1801368"/>
              <a:ext cx="8778240" cy="338455"/>
            </a:xfrm>
            <a:custGeom>
              <a:avLst/>
              <a:gdLst/>
              <a:ahLst/>
              <a:cxnLst/>
              <a:rect l="l" t="t" r="r" b="b"/>
              <a:pathLst>
                <a:path w="8778240" h="338455">
                  <a:moveTo>
                    <a:pt x="8778240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8778240" y="338328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F5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46119" y="1865376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19">
                  <a:moveTo>
                    <a:pt x="530352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30352" y="210312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FF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2879" y="2148840"/>
              <a:ext cx="8778240" cy="338455"/>
            </a:xfrm>
            <a:custGeom>
              <a:avLst/>
              <a:gdLst/>
              <a:ahLst/>
              <a:cxnLst/>
              <a:rect l="l" t="t" r="r" b="b"/>
              <a:pathLst>
                <a:path w="8778240" h="338455">
                  <a:moveTo>
                    <a:pt x="8778240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8778240" y="338328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46119" y="2212848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19">
                  <a:moveTo>
                    <a:pt x="530352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30352" y="210312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FF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82879" y="2496312"/>
              <a:ext cx="8778240" cy="338455"/>
            </a:xfrm>
            <a:custGeom>
              <a:avLst/>
              <a:gdLst/>
              <a:ahLst/>
              <a:cxnLst/>
              <a:rect l="l" t="t" r="r" b="b"/>
              <a:pathLst>
                <a:path w="8778240" h="338455">
                  <a:moveTo>
                    <a:pt x="8778240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8778240" y="338327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F5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46119" y="2560320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19">
                  <a:moveTo>
                    <a:pt x="530352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30352" y="210312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E6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82879" y="2843784"/>
              <a:ext cx="8778240" cy="338455"/>
            </a:xfrm>
            <a:custGeom>
              <a:avLst/>
              <a:gdLst/>
              <a:ahLst/>
              <a:cxnLst/>
              <a:rect l="l" t="t" r="r" b="b"/>
              <a:pathLst>
                <a:path w="8778240" h="338455">
                  <a:moveTo>
                    <a:pt x="8778240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8778240" y="338327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46119" y="2907792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19">
                  <a:moveTo>
                    <a:pt x="530352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30352" y="210312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FF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2879" y="3191256"/>
              <a:ext cx="8778240" cy="338455"/>
            </a:xfrm>
            <a:custGeom>
              <a:avLst/>
              <a:gdLst/>
              <a:ahLst/>
              <a:cxnLst/>
              <a:rect l="l" t="t" r="r" b="b"/>
              <a:pathLst>
                <a:path w="8778240" h="338454">
                  <a:moveTo>
                    <a:pt x="8778240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8778240" y="338328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F5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46119" y="3255263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20">
                  <a:moveTo>
                    <a:pt x="530352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30352" y="210312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FF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82879" y="3538728"/>
              <a:ext cx="8778240" cy="338455"/>
            </a:xfrm>
            <a:custGeom>
              <a:avLst/>
              <a:gdLst/>
              <a:ahLst/>
              <a:cxnLst/>
              <a:rect l="l" t="t" r="r" b="b"/>
              <a:pathLst>
                <a:path w="8778240" h="338454">
                  <a:moveTo>
                    <a:pt x="8778240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8778240" y="338328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46119" y="3602736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20">
                  <a:moveTo>
                    <a:pt x="530352" y="0"/>
                  </a:moveTo>
                  <a:lnTo>
                    <a:pt x="0" y="0"/>
                  </a:lnTo>
                  <a:lnTo>
                    <a:pt x="0" y="210311"/>
                  </a:lnTo>
                  <a:lnTo>
                    <a:pt x="530352" y="210311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E6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2879" y="3886200"/>
              <a:ext cx="8778240" cy="338455"/>
            </a:xfrm>
            <a:custGeom>
              <a:avLst/>
              <a:gdLst/>
              <a:ahLst/>
              <a:cxnLst/>
              <a:rect l="l" t="t" r="r" b="b"/>
              <a:pathLst>
                <a:path w="8778240" h="338454">
                  <a:moveTo>
                    <a:pt x="8778240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8778240" y="338328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F5FB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46119" y="3950208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20">
                  <a:moveTo>
                    <a:pt x="530352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30352" y="210312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E6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77639" y="1515237"/>
              <a:ext cx="530860" cy="210820"/>
            </a:xfrm>
            <a:custGeom>
              <a:avLst/>
              <a:gdLst/>
              <a:ahLst/>
              <a:cxnLst/>
              <a:rect l="l" t="t" r="r" b="b"/>
              <a:pathLst>
                <a:path w="530860" h="210819">
                  <a:moveTo>
                    <a:pt x="530351" y="0"/>
                  </a:moveTo>
                  <a:lnTo>
                    <a:pt x="0" y="0"/>
                  </a:lnTo>
                  <a:lnTo>
                    <a:pt x="0" y="210312"/>
                  </a:lnTo>
                  <a:lnTo>
                    <a:pt x="530351" y="210312"/>
                  </a:lnTo>
                  <a:lnTo>
                    <a:pt x="530351" y="0"/>
                  </a:lnTo>
                  <a:close/>
                </a:path>
              </a:pathLst>
            </a:custGeom>
            <a:solidFill>
              <a:srgbClr val="FF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50208" y="3611372"/>
              <a:ext cx="533400" cy="2190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944112" y="2576321"/>
              <a:ext cx="539750" cy="1597660"/>
            </a:xfrm>
            <a:custGeom>
              <a:avLst/>
              <a:gdLst/>
              <a:ahLst/>
              <a:cxnLst/>
              <a:rect l="l" t="t" r="r" b="b"/>
              <a:pathLst>
                <a:path w="539750" h="1597660">
                  <a:moveTo>
                    <a:pt x="530352" y="1386725"/>
                  </a:moveTo>
                  <a:lnTo>
                    <a:pt x="0" y="1386725"/>
                  </a:lnTo>
                  <a:lnTo>
                    <a:pt x="0" y="1597037"/>
                  </a:lnTo>
                  <a:lnTo>
                    <a:pt x="530352" y="1597037"/>
                  </a:lnTo>
                  <a:lnTo>
                    <a:pt x="530352" y="1386725"/>
                  </a:lnTo>
                  <a:close/>
                </a:path>
                <a:path w="539750" h="1597660">
                  <a:moveTo>
                    <a:pt x="539483" y="0"/>
                  </a:moveTo>
                  <a:lnTo>
                    <a:pt x="9144" y="0"/>
                  </a:lnTo>
                  <a:lnTo>
                    <a:pt x="9144" y="210312"/>
                  </a:lnTo>
                  <a:lnTo>
                    <a:pt x="539483" y="210312"/>
                  </a:lnTo>
                  <a:lnTo>
                    <a:pt x="539483" y="0"/>
                  </a:lnTo>
                  <a:close/>
                </a:path>
              </a:pathLst>
            </a:custGeom>
            <a:solidFill>
              <a:srgbClr val="E6FF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44112" y="1888629"/>
              <a:ext cx="538480" cy="1604010"/>
            </a:xfrm>
            <a:custGeom>
              <a:avLst/>
              <a:gdLst/>
              <a:ahLst/>
              <a:cxnLst/>
              <a:rect l="l" t="t" r="r" b="b"/>
              <a:pathLst>
                <a:path w="538479" h="1604010">
                  <a:moveTo>
                    <a:pt x="530352" y="1026909"/>
                  </a:moveTo>
                  <a:lnTo>
                    <a:pt x="0" y="1026909"/>
                  </a:lnTo>
                  <a:lnTo>
                    <a:pt x="0" y="1237221"/>
                  </a:lnTo>
                  <a:lnTo>
                    <a:pt x="530352" y="1237221"/>
                  </a:lnTo>
                  <a:lnTo>
                    <a:pt x="530352" y="1026909"/>
                  </a:lnTo>
                  <a:close/>
                </a:path>
                <a:path w="538479" h="1604010">
                  <a:moveTo>
                    <a:pt x="530352" y="322567"/>
                  </a:moveTo>
                  <a:lnTo>
                    <a:pt x="0" y="322567"/>
                  </a:lnTo>
                  <a:lnTo>
                    <a:pt x="0" y="532879"/>
                  </a:lnTo>
                  <a:lnTo>
                    <a:pt x="530352" y="532879"/>
                  </a:lnTo>
                  <a:lnTo>
                    <a:pt x="530352" y="322567"/>
                  </a:lnTo>
                  <a:close/>
                </a:path>
                <a:path w="538479" h="1604010">
                  <a:moveTo>
                    <a:pt x="530352" y="0"/>
                  </a:moveTo>
                  <a:lnTo>
                    <a:pt x="0" y="0"/>
                  </a:lnTo>
                  <a:lnTo>
                    <a:pt x="0" y="210299"/>
                  </a:lnTo>
                  <a:lnTo>
                    <a:pt x="530352" y="210299"/>
                  </a:lnTo>
                  <a:lnTo>
                    <a:pt x="530352" y="0"/>
                  </a:lnTo>
                  <a:close/>
                </a:path>
                <a:path w="538479" h="1604010">
                  <a:moveTo>
                    <a:pt x="537972" y="1393177"/>
                  </a:moveTo>
                  <a:lnTo>
                    <a:pt x="7620" y="1393177"/>
                  </a:lnTo>
                  <a:lnTo>
                    <a:pt x="7620" y="1603489"/>
                  </a:lnTo>
                  <a:lnTo>
                    <a:pt x="537972" y="1603489"/>
                  </a:lnTo>
                  <a:lnTo>
                    <a:pt x="537972" y="1393177"/>
                  </a:lnTo>
                  <a:close/>
                </a:path>
              </a:pathLst>
            </a:custGeom>
            <a:solidFill>
              <a:srgbClr val="FFF8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329340" y="4552141"/>
            <a:ext cx="46164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chemeClr val="bg1"/>
                </a:solidFill>
                <a:latin typeface="Arial"/>
                <a:cs typeface="Arial"/>
              </a:rPr>
              <a:t>Risk:</a:t>
            </a:r>
            <a:endParaRPr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aphicFrame>
        <p:nvGraphicFramePr>
          <p:cNvPr id="33" name="object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784525"/>
              </p:ext>
            </p:extLst>
          </p:nvPr>
        </p:nvGraphicFramePr>
        <p:xfrm>
          <a:off x="179704" y="1048385"/>
          <a:ext cx="8778873" cy="3171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9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1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955">
                <a:tc>
                  <a:txBody>
                    <a:bodyPr/>
                    <a:lstStyle/>
                    <a:p>
                      <a:pPr marL="16446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Zone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T="100330" marB="0">
                    <a:lnB w="6350">
                      <a:solidFill>
                        <a:srgbClr val="D7EDED"/>
                      </a:solidFill>
                      <a:prstDash val="solid"/>
                    </a:lnB>
                    <a:solidFill>
                      <a:srgbClr val="157E7E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Population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T="100330" marB="0">
                    <a:lnB w="6350">
                      <a:solidFill>
                        <a:srgbClr val="D7EDED"/>
                      </a:solidFill>
                      <a:prstDash val="solid"/>
                    </a:lnB>
                    <a:solidFill>
                      <a:srgbClr val="157E7E"/>
                    </a:solidFill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Risk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T="100330" marB="0">
                    <a:lnB w="6350">
                      <a:solidFill>
                        <a:srgbClr val="D7EDED"/>
                      </a:solidFill>
                      <a:prstDash val="solid"/>
                    </a:lnB>
                    <a:solidFill>
                      <a:srgbClr val="157E7E"/>
                    </a:solidFill>
                  </a:tcPr>
                </a:tc>
                <a:tc>
                  <a:txBody>
                    <a:bodyPr/>
                    <a:lstStyle/>
                    <a:p>
                      <a:pPr marL="169545" marR="19558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2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Econ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Val</a:t>
                      </a:r>
                      <a:endParaRPr sz="1200">
                        <a:latin typeface="Arial Black"/>
                        <a:cs typeface="Arial Black"/>
                      </a:endParaRPr>
                    </a:p>
                  </a:txBody>
                  <a:tcPr marL="0" marR="0" marT="9525" marB="0">
                    <a:lnB w="6350">
                      <a:solidFill>
                        <a:srgbClr val="D7EDED"/>
                      </a:solidFill>
                      <a:prstDash val="solid"/>
                    </a:lnB>
                    <a:solidFill>
                      <a:srgbClr val="157E7E"/>
                    </a:solidFill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Notes</a:t>
                      </a:r>
                      <a:endParaRPr sz="1200" dirty="0">
                        <a:latin typeface="Arial Black"/>
                        <a:cs typeface="Arial Black"/>
                      </a:endParaRPr>
                    </a:p>
                  </a:txBody>
                  <a:tcPr marL="0" marR="0" marT="100330" marB="0">
                    <a:lnB w="6350">
                      <a:solidFill>
                        <a:srgbClr val="D7EDED"/>
                      </a:solidFill>
                      <a:prstDash val="solid"/>
                    </a:lnB>
                    <a:solidFill>
                      <a:srgbClr val="157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b="1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City</a:t>
                      </a:r>
                      <a:r>
                        <a:rPr sz="1100" b="1" spc="-3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Center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78740" marB="0">
                    <a:lnL w="6350">
                      <a:solidFill>
                        <a:srgbClr val="D7EDED"/>
                      </a:solidFill>
                      <a:prstDash val="solid"/>
                    </a:lnL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spc="-10" dirty="0">
                          <a:solidFill>
                            <a:srgbClr val="1A2D35"/>
                          </a:solidFill>
                          <a:latin typeface="Arial MT"/>
                          <a:cs typeface="Arial MT"/>
                        </a:rPr>
                        <a:t>10,000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7874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b="1" spc="-25" dirty="0">
                          <a:solidFill>
                            <a:srgbClr val="E63946"/>
                          </a:solidFill>
                          <a:latin typeface="Arial"/>
                          <a:cs typeface="Arial"/>
                        </a:rPr>
                        <a:t>1.5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b="1" spc="-25" dirty="0">
                          <a:solidFill>
                            <a:srgbClr val="E63946"/>
                          </a:solidFill>
                          <a:latin typeface="Arial"/>
                          <a:cs typeface="Arial"/>
                        </a:rPr>
                        <a:t>1.5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000" i="1" spc="-3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density,</a:t>
                      </a:r>
                      <a:r>
                        <a:rPr sz="1000" i="1" spc="-4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offices,</a:t>
                      </a:r>
                      <a:r>
                        <a:rPr sz="1000" i="1" spc="-4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transport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86995" marB="0">
                    <a:lnR w="6350">
                      <a:solidFill>
                        <a:srgbClr val="D7EDED"/>
                      </a:solidFill>
                      <a:prstDash val="solid"/>
                    </a:lnR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North</a:t>
                      </a:r>
                      <a:r>
                        <a:rPr sz="1100" b="1" spc="-35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District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D7EDED"/>
                      </a:solidFill>
                      <a:prstDash val="solid"/>
                    </a:lnL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spc="-10" dirty="0">
                          <a:solidFill>
                            <a:srgbClr val="1A2D35"/>
                          </a:solidFill>
                          <a:latin typeface="Arial MT"/>
                          <a:cs typeface="Arial MT"/>
                        </a:rPr>
                        <a:t>8,000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318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b="1" spc="-25" dirty="0">
                          <a:solidFill>
                            <a:srgbClr val="B85C00"/>
                          </a:solidFill>
                          <a:latin typeface="Arial"/>
                          <a:cs typeface="Arial"/>
                        </a:rPr>
                        <a:t>1.0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000" b="1" spc="-25" dirty="0">
                          <a:solidFill>
                            <a:srgbClr val="B85C00"/>
                          </a:solidFill>
                          <a:latin typeface="Arial"/>
                          <a:cs typeface="Arial"/>
                        </a:rPr>
                        <a:t>1.0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3144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Average</a:t>
                      </a:r>
                      <a:r>
                        <a:rPr sz="1000" i="1" spc="-6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residential</a:t>
                      </a:r>
                      <a:r>
                        <a:rPr sz="1000" i="1" spc="-45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R w="6350">
                      <a:solidFill>
                        <a:srgbClr val="D7EDED"/>
                      </a:solidFill>
                      <a:prstDash val="solid"/>
                    </a:lnR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East</a:t>
                      </a:r>
                      <a:r>
                        <a:rPr sz="1100" b="1" spc="-25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District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D7EDED"/>
                      </a:solidFill>
                      <a:prstDash val="solid"/>
                    </a:lnL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spc="-10" dirty="0">
                          <a:solidFill>
                            <a:srgbClr val="1A2D35"/>
                          </a:solidFill>
                          <a:latin typeface="Arial MT"/>
                          <a:cs typeface="Arial MT"/>
                        </a:rPr>
                        <a:t>12,000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318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b="1" spc="-25" dirty="0">
                          <a:solidFill>
                            <a:srgbClr val="B85C00"/>
                          </a:solidFill>
                          <a:latin typeface="Arial"/>
                          <a:cs typeface="Arial"/>
                        </a:rPr>
                        <a:t>1.1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sz="1000" b="1" spc="-25" dirty="0" smtClean="0">
                          <a:solidFill>
                            <a:srgbClr val="B85C00"/>
                          </a:solidFill>
                          <a:latin typeface="Arial"/>
                          <a:cs typeface="Arial"/>
                        </a:rPr>
                        <a:t>0.9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0668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Large</a:t>
                      </a:r>
                      <a:r>
                        <a:rPr sz="1000" i="1" spc="-5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suburb,</a:t>
                      </a:r>
                      <a:r>
                        <a:rPr sz="1000" i="1" spc="-4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moderate</a:t>
                      </a:r>
                      <a:r>
                        <a:rPr sz="1000" i="1" spc="-4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risk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R w="6350">
                      <a:solidFill>
                        <a:srgbClr val="D7EDED"/>
                      </a:solidFill>
                      <a:prstDash val="solid"/>
                    </a:lnR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South</a:t>
                      </a:r>
                      <a:r>
                        <a:rPr sz="1100" b="1" spc="-5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District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D7EDED"/>
                      </a:solidFill>
                      <a:prstDash val="solid"/>
                    </a:lnL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spc="-10" dirty="0">
                          <a:solidFill>
                            <a:srgbClr val="1A2D35"/>
                          </a:solidFill>
                          <a:latin typeface="Arial MT"/>
                          <a:cs typeface="Arial MT"/>
                        </a:rPr>
                        <a:t>6,000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318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b="1" spc="-25" dirty="0" smtClean="0">
                          <a:solidFill>
                            <a:srgbClr val="2CC552"/>
                          </a:solidFill>
                          <a:latin typeface="Arial"/>
                          <a:cs typeface="Arial"/>
                        </a:rPr>
                        <a:t>0.9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000" b="1" spc="-25" dirty="0">
                          <a:solidFill>
                            <a:srgbClr val="2CC552"/>
                          </a:solidFill>
                          <a:latin typeface="Arial"/>
                          <a:cs typeface="Arial"/>
                        </a:rPr>
                        <a:t>0.8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2446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Lower</a:t>
                      </a:r>
                      <a:r>
                        <a:rPr sz="1000" i="1" spc="-4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density,</a:t>
                      </a:r>
                      <a:r>
                        <a:rPr sz="1000" i="1" spc="-45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quieter</a:t>
                      </a:r>
                      <a:r>
                        <a:rPr sz="1000" i="1" spc="-35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R w="6350">
                      <a:solidFill>
                        <a:srgbClr val="D7EDED"/>
                      </a:solidFill>
                      <a:prstDash val="solid"/>
                    </a:lnR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West</a:t>
                      </a:r>
                      <a:r>
                        <a:rPr sz="1100" b="1" spc="-3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District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D7EDED"/>
                      </a:solidFill>
                      <a:prstDash val="solid"/>
                    </a:lnL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spc="-10" dirty="0">
                          <a:solidFill>
                            <a:srgbClr val="1A2D35"/>
                          </a:solidFill>
                          <a:latin typeface="Arial MT"/>
                          <a:cs typeface="Arial MT"/>
                        </a:rPr>
                        <a:t>9,000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318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b="1" spc="-25" dirty="0">
                          <a:solidFill>
                            <a:srgbClr val="B85C00"/>
                          </a:solidFill>
                          <a:latin typeface="Arial"/>
                          <a:cs typeface="Arial"/>
                        </a:rPr>
                        <a:t>1.0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000" b="1" spc="-25" dirty="0">
                          <a:solidFill>
                            <a:srgbClr val="B85C00"/>
                          </a:solidFill>
                          <a:latin typeface="Arial"/>
                          <a:cs typeface="Arial"/>
                        </a:rPr>
                        <a:t>1.1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1620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Mixed</a:t>
                      </a:r>
                      <a:r>
                        <a:rPr sz="1000" i="1" spc="-3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commercial/residential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R w="6350">
                      <a:solidFill>
                        <a:srgbClr val="D7EDED"/>
                      </a:solidFill>
                      <a:prstDash val="solid"/>
                    </a:lnR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b="1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University</a:t>
                      </a:r>
                      <a:r>
                        <a:rPr sz="1100" b="1" spc="-6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Area</a:t>
                      </a:r>
                      <a:endParaRPr sz="1100" dirty="0">
                        <a:latin typeface="Arial"/>
                        <a:cs typeface="Arial"/>
                      </a:endParaRPr>
                    </a:p>
                  </a:txBody>
                  <a:tcPr marL="0" marR="0" marT="83185" marB="0">
                    <a:lnL w="6350">
                      <a:solidFill>
                        <a:srgbClr val="D7EDED"/>
                      </a:solidFill>
                      <a:prstDash val="solid"/>
                    </a:lnL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sz="1100" spc="-10" dirty="0">
                          <a:solidFill>
                            <a:srgbClr val="1A2D35"/>
                          </a:solidFill>
                          <a:latin typeface="Arial MT"/>
                          <a:cs typeface="Arial MT"/>
                        </a:rPr>
                        <a:t>15,000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8318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b="1" spc="-25" dirty="0">
                          <a:solidFill>
                            <a:srgbClr val="E63946"/>
                          </a:solidFill>
                          <a:latin typeface="Arial"/>
                          <a:cs typeface="Arial"/>
                        </a:rPr>
                        <a:t>1.7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8760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1000" b="1" spc="-25" dirty="0">
                          <a:solidFill>
                            <a:srgbClr val="B85C00"/>
                          </a:solidFill>
                          <a:latin typeface="Arial"/>
                          <a:cs typeface="Arial"/>
                        </a:rPr>
                        <a:t>1.2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13462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High</a:t>
                      </a:r>
                      <a:r>
                        <a:rPr sz="1000" i="1" spc="-4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mixing,</a:t>
                      </a:r>
                      <a:r>
                        <a:rPr sz="1000" i="1" spc="-35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r>
                        <a:rPr sz="1000" i="1" spc="-5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dorms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R w="6350">
                      <a:solidFill>
                        <a:srgbClr val="D7EDED"/>
                      </a:solidFill>
                      <a:prstDash val="solid"/>
                    </a:lnR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345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100" b="1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Industrial</a:t>
                      </a:r>
                      <a:r>
                        <a:rPr sz="1100" b="1" spc="-7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2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Zone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D7EDED"/>
                      </a:solidFill>
                      <a:prstDash val="solid"/>
                    </a:lnL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100" spc="-10" dirty="0">
                          <a:solidFill>
                            <a:srgbClr val="1A2D35"/>
                          </a:solidFill>
                          <a:latin typeface="Arial MT"/>
                          <a:cs typeface="Arial MT"/>
                        </a:rPr>
                        <a:t>7,000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382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00" b="1" spc="-25" dirty="0">
                          <a:solidFill>
                            <a:srgbClr val="2CC552"/>
                          </a:solidFill>
                          <a:latin typeface="Arial"/>
                          <a:cs typeface="Arial"/>
                        </a:rPr>
                        <a:t>0.8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000" b="1" spc="-25" dirty="0">
                          <a:solidFill>
                            <a:srgbClr val="E63946"/>
                          </a:solidFill>
                          <a:latin typeface="Arial"/>
                          <a:cs typeface="Arial"/>
                        </a:rPr>
                        <a:t>2.0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0096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Factories</a:t>
                      </a:r>
                      <a:r>
                        <a:rPr sz="1000" i="1" spc="-2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—</a:t>
                      </a:r>
                      <a:r>
                        <a:rPr sz="1000" i="1" spc="-25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very</a:t>
                      </a:r>
                      <a:r>
                        <a:rPr sz="1000" i="1" spc="-3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1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expensive!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R w="6350">
                      <a:solidFill>
                        <a:srgbClr val="D7EDED"/>
                      </a:solidFill>
                      <a:prstDash val="solid"/>
                    </a:lnR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14605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100" b="1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Suburb</a:t>
                      </a:r>
                      <a:r>
                        <a:rPr sz="1100" b="1" spc="-4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1A2D35"/>
                          </a:solidFill>
                          <a:latin typeface="Arial"/>
                          <a:cs typeface="Arial"/>
                        </a:rPr>
                        <a:t>North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83820" marB="0">
                    <a:lnL w="6350">
                      <a:solidFill>
                        <a:srgbClr val="D7EDED"/>
                      </a:solidFill>
                      <a:prstDash val="solid"/>
                    </a:lnL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100" spc="-10" dirty="0">
                          <a:solidFill>
                            <a:srgbClr val="1A2D35"/>
                          </a:solidFill>
                          <a:latin typeface="Arial MT"/>
                          <a:cs typeface="Arial MT"/>
                        </a:rPr>
                        <a:t>5,000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83820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84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00" b="1" spc="-25" dirty="0">
                          <a:solidFill>
                            <a:srgbClr val="2CC552"/>
                          </a:solidFill>
                          <a:latin typeface="Arial"/>
                          <a:cs typeface="Arial"/>
                        </a:rPr>
                        <a:t>0.6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r>
                        <a:rPr sz="1000" b="1" spc="-25" dirty="0">
                          <a:solidFill>
                            <a:srgbClr val="2CC552"/>
                          </a:solidFill>
                          <a:latin typeface="Arial"/>
                          <a:cs typeface="Arial"/>
                        </a:rPr>
                        <a:t>0.5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121285" marB="0"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Low</a:t>
                      </a:r>
                      <a:r>
                        <a:rPr sz="1000" i="1" spc="-35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density,</a:t>
                      </a:r>
                      <a:r>
                        <a:rPr sz="1000" i="1" spc="-4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low</a:t>
                      </a:r>
                      <a:r>
                        <a:rPr sz="1000" i="1" spc="-25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i="1" spc="-20" dirty="0">
                          <a:solidFill>
                            <a:srgbClr val="6B8989"/>
                          </a:solidFill>
                          <a:latin typeface="Arial"/>
                          <a:cs typeface="Arial"/>
                        </a:rPr>
                        <a:t>risk</a:t>
                      </a:r>
                      <a:endParaRPr sz="1000" dirty="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R w="6350">
                      <a:solidFill>
                        <a:srgbClr val="D7EDED"/>
                      </a:solidFill>
                      <a:prstDash val="solid"/>
                    </a:lnR>
                    <a:lnT w="6350">
                      <a:solidFill>
                        <a:srgbClr val="D7EDED"/>
                      </a:solidFill>
                      <a:prstDash val="solid"/>
                    </a:lnT>
                    <a:lnB w="6350">
                      <a:solidFill>
                        <a:srgbClr val="D7EDE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1809" y="4354613"/>
            <a:ext cx="822960" cy="788885"/>
          </a:xfrm>
          <a:prstGeom prst="rect">
            <a:avLst/>
          </a:prstGeom>
        </p:spPr>
      </p:pic>
      <p:sp>
        <p:nvSpPr>
          <p:cNvPr id="36" name="object 29"/>
          <p:cNvSpPr txBox="1"/>
          <p:nvPr/>
        </p:nvSpPr>
        <p:spPr>
          <a:xfrm>
            <a:off x="2857872" y="4540707"/>
            <a:ext cx="826392" cy="228268"/>
          </a:xfrm>
          <a:prstGeom prst="rect">
            <a:avLst/>
          </a:prstGeom>
          <a:solidFill>
            <a:srgbClr val="FFF8DF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 smtClean="0">
                <a:solidFill>
                  <a:srgbClr val="B85C00"/>
                </a:solidFill>
                <a:latin typeface="Arial"/>
                <a:cs typeface="Arial"/>
              </a:rPr>
              <a:t>Medium</a:t>
            </a:r>
            <a:endParaRPr sz="1400" dirty="0">
              <a:solidFill>
                <a:srgbClr val="B85C00"/>
              </a:solidFill>
              <a:latin typeface="Arial"/>
              <a:cs typeface="Arial"/>
            </a:endParaRPr>
          </a:p>
        </p:txBody>
      </p:sp>
      <p:sp>
        <p:nvSpPr>
          <p:cNvPr id="37" name="object 29"/>
          <p:cNvSpPr txBox="1"/>
          <p:nvPr/>
        </p:nvSpPr>
        <p:spPr>
          <a:xfrm>
            <a:off x="3800156" y="4542177"/>
            <a:ext cx="826392" cy="228268"/>
          </a:xfrm>
          <a:prstGeom prst="rect">
            <a:avLst/>
          </a:prstGeom>
          <a:solidFill>
            <a:srgbClr val="E6FFF1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 smtClean="0">
                <a:solidFill>
                  <a:srgbClr val="2CC552"/>
                </a:solidFill>
                <a:latin typeface="Arial"/>
                <a:cs typeface="Arial"/>
              </a:rPr>
              <a:t>Low</a:t>
            </a:r>
            <a:endParaRPr sz="1400" dirty="0">
              <a:solidFill>
                <a:srgbClr val="2CC552"/>
              </a:solidFill>
              <a:latin typeface="Arial"/>
              <a:cs typeface="Arial"/>
            </a:endParaRPr>
          </a:p>
        </p:txBody>
      </p:sp>
      <p:sp>
        <p:nvSpPr>
          <p:cNvPr id="38" name="object 29"/>
          <p:cNvSpPr txBox="1"/>
          <p:nvPr/>
        </p:nvSpPr>
        <p:spPr>
          <a:xfrm>
            <a:off x="1915588" y="4543580"/>
            <a:ext cx="826392" cy="228268"/>
          </a:xfrm>
          <a:prstGeom prst="rect">
            <a:avLst/>
          </a:prstGeom>
          <a:solidFill>
            <a:srgbClr val="FFE4E4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400" b="1" spc="-10" dirty="0" smtClean="0">
                <a:solidFill>
                  <a:srgbClr val="E63946"/>
                </a:solidFill>
                <a:latin typeface="Arial"/>
                <a:cs typeface="Arial"/>
              </a:rPr>
              <a:t>High</a:t>
            </a:r>
            <a:endParaRPr sz="1400" dirty="0">
              <a:solidFill>
                <a:srgbClr val="E63946"/>
              </a:solidFill>
              <a:latin typeface="Arial"/>
              <a:cs typeface="Arial"/>
            </a:endParaRPr>
          </a:p>
        </p:txBody>
      </p:sp>
      <p:sp>
        <p:nvSpPr>
          <p:cNvPr id="41" name="object 29"/>
          <p:cNvSpPr txBox="1"/>
          <p:nvPr/>
        </p:nvSpPr>
        <p:spPr>
          <a:xfrm>
            <a:off x="3243639" y="2582182"/>
            <a:ext cx="533340" cy="166712"/>
          </a:xfrm>
          <a:prstGeom prst="rect">
            <a:avLst/>
          </a:prstGeom>
          <a:solidFill>
            <a:srgbClr val="FFF8DF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000" b="1" spc="-10" dirty="0" smtClean="0">
                <a:solidFill>
                  <a:srgbClr val="B85C00"/>
                </a:solidFill>
                <a:latin typeface="Arial"/>
                <a:cs typeface="Arial"/>
              </a:rPr>
              <a:t>0.9</a:t>
            </a:r>
            <a:endParaRPr sz="1000" dirty="0">
              <a:solidFill>
                <a:srgbClr val="B85C00"/>
              </a:solidFill>
              <a:latin typeface="Arial"/>
              <a:cs typeface="Arial"/>
            </a:endParaRPr>
          </a:p>
        </p:txBody>
      </p:sp>
      <p:sp>
        <p:nvSpPr>
          <p:cNvPr id="42" name="object 29"/>
          <p:cNvSpPr txBox="1"/>
          <p:nvPr/>
        </p:nvSpPr>
        <p:spPr>
          <a:xfrm>
            <a:off x="3950208" y="3282150"/>
            <a:ext cx="532384" cy="215123"/>
          </a:xfrm>
          <a:prstGeom prst="rect">
            <a:avLst/>
          </a:prstGeom>
          <a:solidFill>
            <a:srgbClr val="FFE4E4"/>
          </a:solidFill>
        </p:spPr>
        <p:txBody>
          <a:bodyPr vert="horz" wrap="square" lIns="0" tIns="12700" rIns="0" bIns="0" rtlCol="0" anchor="ctr">
            <a:spAutoFit/>
          </a:bodyPr>
          <a:lstStyle/>
          <a:p>
            <a:pPr marL="12700" algn="ctr" rtl="0">
              <a:lnSpc>
                <a:spcPct val="150000"/>
              </a:lnSpc>
              <a:spcBef>
                <a:spcPts val="100"/>
              </a:spcBef>
            </a:pPr>
            <a:r>
              <a:rPr lang="en-US" sz="1000" b="1" spc="-10" dirty="0" smtClean="0">
                <a:solidFill>
                  <a:srgbClr val="E63946"/>
                </a:solidFill>
                <a:latin typeface="Arial"/>
                <a:cs typeface="Arial"/>
              </a:rPr>
              <a:t>1.2</a:t>
            </a:r>
            <a:endParaRPr sz="1000" dirty="0">
              <a:solidFill>
                <a:srgbClr val="E63946"/>
              </a:solidFill>
              <a:latin typeface="Arial"/>
              <a:cs typeface="Arial"/>
            </a:endParaRPr>
          </a:p>
        </p:txBody>
      </p:sp>
      <p:sp>
        <p:nvSpPr>
          <p:cNvPr id="44" name="object 17"/>
          <p:cNvSpPr txBox="1"/>
          <p:nvPr/>
        </p:nvSpPr>
        <p:spPr>
          <a:xfrm>
            <a:off x="3999002" y="3294650"/>
            <a:ext cx="428699" cy="166712"/>
          </a:xfrm>
          <a:prstGeom prst="rect">
            <a:avLst/>
          </a:prstGeom>
          <a:solidFill>
            <a:srgbClr val="FFE4E4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000" b="1" dirty="0" smtClean="0">
                <a:solidFill>
                  <a:srgbClr val="E63946"/>
                </a:solidFill>
                <a:latin typeface="Arial"/>
                <a:cs typeface="Arial"/>
              </a:rPr>
              <a:t>1.2</a:t>
            </a:r>
            <a:endParaRPr sz="1000" dirty="0">
              <a:solidFill>
                <a:srgbClr val="E63946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059180"/>
            <a:ext cx="8869680" cy="4015738"/>
            <a:chOff x="0" y="1059180"/>
            <a:chExt cx="8869680" cy="4015738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60518"/>
              <a:ext cx="731519" cy="914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5280" y="4160518"/>
              <a:ext cx="914400" cy="914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400" y="4251960"/>
              <a:ext cx="777239" cy="7772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175" y="1059180"/>
              <a:ext cx="1222197" cy="20909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77980" y="1390015"/>
              <a:ext cx="960119" cy="1628139"/>
            </a:xfrm>
            <a:custGeom>
              <a:avLst/>
              <a:gdLst/>
              <a:ahLst/>
              <a:cxnLst/>
              <a:rect l="l" t="t" r="r" b="b"/>
              <a:pathLst>
                <a:path w="960119" h="1628139">
                  <a:moveTo>
                    <a:pt x="0" y="1627632"/>
                  </a:moveTo>
                  <a:lnTo>
                    <a:pt x="960119" y="1627632"/>
                  </a:lnTo>
                  <a:lnTo>
                    <a:pt x="960119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7104" y="1183474"/>
              <a:ext cx="960119" cy="201295"/>
            </a:xfrm>
            <a:custGeom>
              <a:avLst/>
              <a:gdLst/>
              <a:ahLst/>
              <a:cxnLst/>
              <a:rect l="l" t="t" r="r" b="b"/>
              <a:pathLst>
                <a:path w="960119" h="201294">
                  <a:moveTo>
                    <a:pt x="960119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960119" y="201167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FF6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729485" y="120142"/>
            <a:ext cx="56896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STEP</a:t>
            </a:r>
            <a:r>
              <a:rPr sz="3200" spc="-30" dirty="0"/>
              <a:t> </a:t>
            </a:r>
            <a:r>
              <a:rPr sz="3200" dirty="0"/>
              <a:t>1</a:t>
            </a:r>
            <a:r>
              <a:rPr sz="3200" spc="-10" dirty="0"/>
              <a:t> </a:t>
            </a:r>
            <a:r>
              <a:rPr sz="3200" dirty="0"/>
              <a:t>—</a:t>
            </a:r>
            <a:r>
              <a:rPr sz="3200" spc="-25" dirty="0"/>
              <a:t> </a:t>
            </a:r>
            <a:r>
              <a:rPr sz="3200" spc="-10" dirty="0"/>
              <a:t>Representation</a:t>
            </a:r>
            <a:endParaRPr sz="3200"/>
          </a:p>
        </p:txBody>
      </p:sp>
      <p:sp>
        <p:nvSpPr>
          <p:cNvPr id="10" name="object 10"/>
          <p:cNvSpPr txBox="1"/>
          <p:nvPr/>
        </p:nvSpPr>
        <p:spPr>
          <a:xfrm>
            <a:off x="2196210" y="757174"/>
            <a:ext cx="47580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1A2D35"/>
                </a:solidFill>
                <a:latin typeface="Arial"/>
                <a:cs typeface="Arial"/>
              </a:rPr>
              <a:t>Each</a:t>
            </a:r>
            <a:r>
              <a:rPr sz="1400" b="1" spc="-4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A2D35"/>
                </a:solidFill>
                <a:latin typeface="Arial"/>
                <a:cs typeface="Arial"/>
              </a:rPr>
              <a:t>particle</a:t>
            </a:r>
            <a:r>
              <a:rPr sz="1400" b="1" spc="-5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A2D35"/>
                </a:solidFill>
                <a:latin typeface="Arial"/>
                <a:cs typeface="Arial"/>
              </a:rPr>
              <a:t>=</a:t>
            </a:r>
            <a:r>
              <a:rPr sz="1400" b="1" spc="-2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A2D35"/>
                </a:solidFill>
                <a:latin typeface="Arial"/>
                <a:cs typeface="Arial"/>
              </a:rPr>
              <a:t>one</a:t>
            </a:r>
            <a:r>
              <a:rPr sz="1400" b="1" spc="-2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A2D35"/>
                </a:solidFill>
                <a:latin typeface="Arial"/>
                <a:cs typeface="Arial"/>
              </a:rPr>
              <a:t>complete</a:t>
            </a:r>
            <a:r>
              <a:rPr sz="1400" b="1" spc="-4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A2D35"/>
                </a:solidFill>
                <a:latin typeface="Arial"/>
                <a:cs typeface="Arial"/>
              </a:rPr>
              <a:t>city-</a:t>
            </a:r>
            <a:r>
              <a:rPr sz="1400" b="1" dirty="0">
                <a:solidFill>
                  <a:srgbClr val="1A2D35"/>
                </a:solidFill>
                <a:latin typeface="Arial"/>
                <a:cs typeface="Arial"/>
              </a:rPr>
              <a:t>wide</a:t>
            </a:r>
            <a:r>
              <a:rPr sz="1400" b="1" spc="-5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A2D35"/>
                </a:solidFill>
                <a:latin typeface="Arial"/>
                <a:cs typeface="Arial"/>
              </a:rPr>
              <a:t>restriction</a:t>
            </a:r>
            <a:r>
              <a:rPr sz="1400" b="1" spc="-6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A2D35"/>
                </a:solidFill>
                <a:latin typeface="Arial"/>
                <a:cs typeface="Arial"/>
              </a:rPr>
              <a:t>policy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2661" y="1597910"/>
            <a:ext cx="1059127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FF6B6B"/>
                </a:solidFill>
                <a:latin typeface="Arial Black"/>
                <a:cs typeface="Arial Black"/>
              </a:rPr>
              <a:t>72%</a:t>
            </a:r>
            <a:endParaRPr sz="2200" dirty="0">
              <a:latin typeface="Arial Black"/>
              <a:cs typeface="Arial Black"/>
            </a:endParaRPr>
          </a:p>
          <a:p>
            <a:pPr marL="299085" marR="291465" indent="-1270" algn="ctr">
              <a:lnSpc>
                <a:spcPct val="100000"/>
              </a:lnSpc>
              <a:spcBef>
                <a:spcPts val="1540"/>
              </a:spcBef>
            </a:pP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City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Center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45212" y="1087243"/>
            <a:ext cx="1222375" cy="2091055"/>
            <a:chOff x="1117091" y="1080516"/>
            <a:chExt cx="1222375" cy="209105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7091" y="1080516"/>
              <a:ext cx="1222197" cy="209092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80159" y="1389888"/>
              <a:ext cx="960119" cy="1628139"/>
            </a:xfrm>
            <a:custGeom>
              <a:avLst/>
              <a:gdLst/>
              <a:ahLst/>
              <a:cxnLst/>
              <a:rect l="l" t="t" r="r" b="b"/>
              <a:pathLst>
                <a:path w="960119" h="1628139">
                  <a:moveTo>
                    <a:pt x="0" y="1627632"/>
                  </a:moveTo>
                  <a:lnTo>
                    <a:pt x="960119" y="1627632"/>
                  </a:lnTo>
                  <a:lnTo>
                    <a:pt x="960119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80159" y="1188720"/>
              <a:ext cx="960119" cy="201295"/>
            </a:xfrm>
            <a:custGeom>
              <a:avLst/>
              <a:gdLst/>
              <a:ahLst/>
              <a:cxnLst/>
              <a:rect l="l" t="t" r="r" b="b"/>
              <a:pathLst>
                <a:path w="960119" h="201294">
                  <a:moveTo>
                    <a:pt x="960119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960119" y="201167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1A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66345" y="1533901"/>
            <a:ext cx="1051558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1ABEBE"/>
                </a:solidFill>
                <a:latin typeface="Arial Black"/>
                <a:cs typeface="Arial Black"/>
              </a:rPr>
              <a:t>45%</a:t>
            </a:r>
            <a:endParaRPr sz="2200" dirty="0">
              <a:latin typeface="Arial Black"/>
              <a:cs typeface="Arial Black"/>
            </a:endParaRPr>
          </a:p>
          <a:p>
            <a:pPr marL="332740" marR="325120" algn="ctr">
              <a:lnSpc>
                <a:spcPct val="100000"/>
              </a:lnSpc>
              <a:spcBef>
                <a:spcPts val="1540"/>
              </a:spcBef>
            </a:pP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North Dist.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296772" y="1087243"/>
            <a:ext cx="1222375" cy="2091055"/>
            <a:chOff x="2168651" y="1080516"/>
            <a:chExt cx="1222375" cy="2091055"/>
          </a:xfrm>
        </p:grpSpPr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68651" y="1080516"/>
              <a:ext cx="1222197" cy="209092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31719" y="1389888"/>
              <a:ext cx="960119" cy="1628139"/>
            </a:xfrm>
            <a:custGeom>
              <a:avLst/>
              <a:gdLst/>
              <a:ahLst/>
              <a:cxnLst/>
              <a:rect l="l" t="t" r="r" b="b"/>
              <a:pathLst>
                <a:path w="960120" h="1628139">
                  <a:moveTo>
                    <a:pt x="0" y="1627632"/>
                  </a:moveTo>
                  <a:lnTo>
                    <a:pt x="960119" y="1627632"/>
                  </a:lnTo>
                  <a:lnTo>
                    <a:pt x="960119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31719" y="1188720"/>
              <a:ext cx="960119" cy="201295"/>
            </a:xfrm>
            <a:custGeom>
              <a:avLst/>
              <a:gdLst/>
              <a:ahLst/>
              <a:cxnLst/>
              <a:rect l="l" t="t" r="r" b="b"/>
              <a:pathLst>
                <a:path w="960120" h="201294">
                  <a:moveTo>
                    <a:pt x="960119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960119" y="201167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7A5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388265" y="1544569"/>
            <a:ext cx="1101065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7A5EA7"/>
                </a:solidFill>
                <a:latin typeface="Arial Black"/>
                <a:cs typeface="Arial Black"/>
              </a:rPr>
              <a:t>61%</a:t>
            </a:r>
            <a:endParaRPr sz="2200" dirty="0">
              <a:latin typeface="Arial Black"/>
              <a:cs typeface="Arial Black"/>
            </a:endParaRPr>
          </a:p>
          <a:p>
            <a:pPr marL="358775" marR="351155" algn="ctr">
              <a:lnSpc>
                <a:spcPct val="100000"/>
              </a:lnSpc>
              <a:spcBef>
                <a:spcPts val="1540"/>
              </a:spcBef>
            </a:pP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East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Dist.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48332" y="1087243"/>
            <a:ext cx="1222375" cy="2091055"/>
            <a:chOff x="3220211" y="1080516"/>
            <a:chExt cx="1222375" cy="209105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0211" y="1080516"/>
              <a:ext cx="1222197" cy="209092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383279" y="1389888"/>
              <a:ext cx="960119" cy="1628139"/>
            </a:xfrm>
            <a:custGeom>
              <a:avLst/>
              <a:gdLst/>
              <a:ahLst/>
              <a:cxnLst/>
              <a:rect l="l" t="t" r="r" b="b"/>
              <a:pathLst>
                <a:path w="960120" h="1628139">
                  <a:moveTo>
                    <a:pt x="0" y="1627632"/>
                  </a:moveTo>
                  <a:lnTo>
                    <a:pt x="960120" y="1627632"/>
                  </a:lnTo>
                  <a:lnTo>
                    <a:pt x="960120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383279" y="1188720"/>
              <a:ext cx="960119" cy="201295"/>
            </a:xfrm>
            <a:custGeom>
              <a:avLst/>
              <a:gdLst/>
              <a:ahLst/>
              <a:cxnLst/>
              <a:rect l="l" t="t" r="r" b="b"/>
              <a:pathLst>
                <a:path w="960120" h="201294">
                  <a:moveTo>
                    <a:pt x="960120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960120" y="201167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DF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33650" y="1533901"/>
            <a:ext cx="1051559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DF7A00"/>
                </a:solidFill>
                <a:latin typeface="Arial Black"/>
                <a:cs typeface="Arial Black"/>
              </a:rPr>
              <a:t>38%</a:t>
            </a:r>
            <a:endParaRPr sz="2200" dirty="0">
              <a:latin typeface="Arial Black"/>
              <a:cs typeface="Arial Black"/>
            </a:endParaRPr>
          </a:p>
          <a:p>
            <a:pPr marL="321945" marR="314325" algn="ctr">
              <a:lnSpc>
                <a:spcPct val="100000"/>
              </a:lnSpc>
              <a:spcBef>
                <a:spcPts val="1540"/>
              </a:spcBef>
            </a:pP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South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Dist.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399892" y="1087243"/>
            <a:ext cx="1222375" cy="2091055"/>
            <a:chOff x="4271771" y="1080516"/>
            <a:chExt cx="1222375" cy="2091055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71771" y="1080516"/>
              <a:ext cx="1222197" cy="209092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434839" y="1389888"/>
              <a:ext cx="960119" cy="1628139"/>
            </a:xfrm>
            <a:custGeom>
              <a:avLst/>
              <a:gdLst/>
              <a:ahLst/>
              <a:cxnLst/>
              <a:rect l="l" t="t" r="r" b="b"/>
              <a:pathLst>
                <a:path w="960120" h="1628139">
                  <a:moveTo>
                    <a:pt x="0" y="1627632"/>
                  </a:moveTo>
                  <a:lnTo>
                    <a:pt x="960119" y="1627632"/>
                  </a:lnTo>
                  <a:lnTo>
                    <a:pt x="960119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434839" y="1188720"/>
              <a:ext cx="960119" cy="201295"/>
            </a:xfrm>
            <a:custGeom>
              <a:avLst/>
              <a:gdLst/>
              <a:ahLst/>
              <a:cxnLst/>
              <a:rect l="l" t="t" r="r" b="b"/>
              <a:pathLst>
                <a:path w="960120" h="201294">
                  <a:moveTo>
                    <a:pt x="960119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960119" y="201167"/>
                  </a:lnTo>
                  <a:lnTo>
                    <a:pt x="960119" y="0"/>
                  </a:lnTo>
                  <a:close/>
                </a:path>
              </a:pathLst>
            </a:custGeom>
            <a:solidFill>
              <a:srgbClr val="15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520486" y="1533901"/>
            <a:ext cx="1037869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157E7E"/>
                </a:solidFill>
                <a:latin typeface="Arial Black"/>
                <a:cs typeface="Arial Black"/>
              </a:rPr>
              <a:t>50%</a:t>
            </a:r>
            <a:endParaRPr sz="2200" dirty="0">
              <a:latin typeface="Arial Black"/>
              <a:cs typeface="Arial Black"/>
            </a:endParaRPr>
          </a:p>
          <a:p>
            <a:pPr marL="340995" marR="332105" algn="ctr">
              <a:lnSpc>
                <a:spcPct val="100000"/>
              </a:lnSpc>
              <a:spcBef>
                <a:spcPts val="1540"/>
              </a:spcBef>
            </a:pP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West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Dist.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51453" y="1087243"/>
            <a:ext cx="1222375" cy="2091055"/>
            <a:chOff x="5323332" y="1080516"/>
            <a:chExt cx="1222375" cy="2091055"/>
          </a:xfrm>
        </p:grpSpPr>
        <p:pic>
          <p:nvPicPr>
            <p:cNvPr id="33" name="object 3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23332" y="1080516"/>
              <a:ext cx="1222197" cy="209092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86400" y="1389888"/>
              <a:ext cx="960119" cy="1628139"/>
            </a:xfrm>
            <a:custGeom>
              <a:avLst/>
              <a:gdLst/>
              <a:ahLst/>
              <a:cxnLst/>
              <a:rect l="l" t="t" r="r" b="b"/>
              <a:pathLst>
                <a:path w="960120" h="1628139">
                  <a:moveTo>
                    <a:pt x="0" y="1627632"/>
                  </a:moveTo>
                  <a:lnTo>
                    <a:pt x="960120" y="1627632"/>
                  </a:lnTo>
                  <a:lnTo>
                    <a:pt x="960120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486400" y="1188720"/>
              <a:ext cx="960119" cy="201295"/>
            </a:xfrm>
            <a:custGeom>
              <a:avLst/>
              <a:gdLst/>
              <a:ahLst/>
              <a:cxnLst/>
              <a:rect l="l" t="t" r="r" b="b"/>
              <a:pathLst>
                <a:path w="960120" h="201294">
                  <a:moveTo>
                    <a:pt x="960120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960120" y="201167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5571206" y="1533901"/>
            <a:ext cx="1059129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E63946"/>
                </a:solidFill>
                <a:latin typeface="Arial Black"/>
                <a:cs typeface="Arial Black"/>
              </a:rPr>
              <a:t>80%</a:t>
            </a:r>
            <a:endParaRPr sz="2200" dirty="0">
              <a:latin typeface="Arial Black"/>
              <a:cs typeface="Arial Black"/>
            </a:endParaRPr>
          </a:p>
          <a:p>
            <a:pPr marL="342265" marR="335280" algn="ctr">
              <a:lnSpc>
                <a:spcPct val="100000"/>
              </a:lnSpc>
              <a:spcBef>
                <a:spcPts val="1540"/>
              </a:spcBef>
            </a:pP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Univ. 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Area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503012" y="1087243"/>
            <a:ext cx="1222375" cy="2091055"/>
            <a:chOff x="6374891" y="1080516"/>
            <a:chExt cx="1222375" cy="2091055"/>
          </a:xfrm>
        </p:grpSpPr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4891" y="1080516"/>
              <a:ext cx="1222197" cy="209092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537959" y="1389888"/>
              <a:ext cx="960119" cy="1628139"/>
            </a:xfrm>
            <a:custGeom>
              <a:avLst/>
              <a:gdLst/>
              <a:ahLst/>
              <a:cxnLst/>
              <a:rect l="l" t="t" r="r" b="b"/>
              <a:pathLst>
                <a:path w="960120" h="1628139">
                  <a:moveTo>
                    <a:pt x="0" y="1627632"/>
                  </a:moveTo>
                  <a:lnTo>
                    <a:pt x="960120" y="1627632"/>
                  </a:lnTo>
                  <a:lnTo>
                    <a:pt x="960120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37959" y="1188720"/>
              <a:ext cx="960119" cy="201295"/>
            </a:xfrm>
            <a:custGeom>
              <a:avLst/>
              <a:gdLst/>
              <a:ahLst/>
              <a:cxnLst/>
              <a:rect l="l" t="t" r="r" b="b"/>
              <a:pathLst>
                <a:path w="960120" h="201294">
                  <a:moveTo>
                    <a:pt x="960120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960120" y="201167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2CC5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615490" y="1533901"/>
            <a:ext cx="1051559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2CC552"/>
                </a:solidFill>
                <a:latin typeface="Arial Black"/>
                <a:cs typeface="Arial Black"/>
              </a:rPr>
              <a:t>25%</a:t>
            </a:r>
            <a:endParaRPr sz="2200" dirty="0">
              <a:latin typeface="Arial Black"/>
              <a:cs typeface="Arial Black"/>
            </a:endParaRPr>
          </a:p>
          <a:p>
            <a:pPr marL="298450" marR="291465" algn="ctr">
              <a:lnSpc>
                <a:spcPct val="100000"/>
              </a:lnSpc>
              <a:spcBef>
                <a:spcPts val="1540"/>
              </a:spcBef>
            </a:pP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Indust. 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Zone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5531" y="3073907"/>
            <a:ext cx="8949055" cy="1176655"/>
            <a:chOff x="65531" y="3073907"/>
            <a:chExt cx="8949055" cy="1176655"/>
          </a:xfrm>
        </p:grpSpPr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31" y="3073907"/>
              <a:ext cx="8948928" cy="117655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28600" y="3182111"/>
              <a:ext cx="8686800" cy="914400"/>
            </a:xfrm>
            <a:custGeom>
              <a:avLst/>
              <a:gdLst/>
              <a:ahLst/>
              <a:cxnLst/>
              <a:rect l="l" t="t" r="r" b="b"/>
              <a:pathLst>
                <a:path w="8686800" h="914400">
                  <a:moveTo>
                    <a:pt x="8686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8686800" y="914400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02919" y="3322701"/>
            <a:ext cx="5634355" cy="641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57E7E"/>
                </a:solidFill>
                <a:latin typeface="Arial"/>
                <a:cs typeface="Arial"/>
              </a:rPr>
              <a:t>velocity</a:t>
            </a:r>
            <a:r>
              <a:rPr sz="1400" b="1" spc="320" dirty="0">
                <a:solidFill>
                  <a:srgbClr val="157E7E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(starts</a:t>
            </a:r>
            <a:r>
              <a:rPr sz="1400" b="1" spc="-5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at</a:t>
            </a:r>
            <a:r>
              <a:rPr sz="1400" b="1" spc="-2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0.0</a:t>
            </a:r>
            <a:r>
              <a:rPr sz="1400" b="1" spc="-3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—</a:t>
            </a:r>
            <a:r>
              <a:rPr sz="1400" b="1" spc="-20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particles</a:t>
            </a:r>
            <a:r>
              <a:rPr sz="1400" b="1" spc="-5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are</a:t>
            </a:r>
            <a:r>
              <a:rPr sz="1400" b="1" spc="-3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stationary</a:t>
            </a:r>
            <a:r>
              <a:rPr sz="1400" b="1" spc="-5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before</a:t>
            </a:r>
            <a:r>
              <a:rPr sz="1400" b="1" spc="-4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6B8989"/>
                </a:solidFill>
                <a:latin typeface="Arial"/>
                <a:cs typeface="Arial"/>
              </a:rPr>
              <a:t>first</a:t>
            </a:r>
            <a:r>
              <a:rPr sz="1400" b="1" spc="-4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6B8989"/>
                </a:solidFill>
                <a:latin typeface="Arial"/>
                <a:cs typeface="Arial"/>
              </a:rPr>
              <a:t>move):</a:t>
            </a:r>
            <a:endParaRPr sz="1400">
              <a:latin typeface="Arial"/>
              <a:cs typeface="Arial"/>
            </a:endParaRPr>
          </a:p>
          <a:p>
            <a:pPr marL="798830">
              <a:lnSpc>
                <a:spcPct val="100000"/>
              </a:lnSpc>
              <a:spcBef>
                <a:spcPts val="1245"/>
              </a:spcBef>
              <a:tabLst>
                <a:tab pos="1132840" algn="l"/>
                <a:tab pos="1911350" algn="l"/>
                <a:tab pos="2689225" algn="l"/>
                <a:tab pos="3467735" algn="l"/>
                <a:tab pos="4244975" algn="l"/>
                <a:tab pos="5024120" algn="l"/>
              </a:tabLst>
            </a:pPr>
            <a:r>
              <a:rPr sz="1600" b="1" spc="-50" dirty="0">
                <a:solidFill>
                  <a:srgbClr val="157E7E"/>
                </a:solidFill>
                <a:latin typeface="Consolas"/>
                <a:cs typeface="Consolas"/>
              </a:rPr>
              <a:t>[</a:t>
            </a:r>
            <a:r>
              <a:rPr sz="1600" b="1" dirty="0">
                <a:solidFill>
                  <a:srgbClr val="157E7E"/>
                </a:solidFill>
                <a:latin typeface="Consolas"/>
                <a:cs typeface="Consolas"/>
              </a:rPr>
              <a:t>	</a:t>
            </a:r>
            <a:r>
              <a:rPr sz="1600" b="1" spc="-20" dirty="0">
                <a:solidFill>
                  <a:srgbClr val="157E7E"/>
                </a:solidFill>
                <a:latin typeface="Consolas"/>
                <a:cs typeface="Consolas"/>
              </a:rPr>
              <a:t>0.0,</a:t>
            </a:r>
            <a:r>
              <a:rPr sz="1600" b="1" dirty="0">
                <a:solidFill>
                  <a:srgbClr val="157E7E"/>
                </a:solidFill>
                <a:latin typeface="Consolas"/>
                <a:cs typeface="Consolas"/>
              </a:rPr>
              <a:t>	</a:t>
            </a:r>
            <a:r>
              <a:rPr sz="1600" b="1" spc="-20" dirty="0">
                <a:solidFill>
                  <a:srgbClr val="157E7E"/>
                </a:solidFill>
                <a:latin typeface="Consolas"/>
                <a:cs typeface="Consolas"/>
              </a:rPr>
              <a:t>0.0,</a:t>
            </a:r>
            <a:r>
              <a:rPr sz="1600" b="1" dirty="0">
                <a:solidFill>
                  <a:srgbClr val="157E7E"/>
                </a:solidFill>
                <a:latin typeface="Consolas"/>
                <a:cs typeface="Consolas"/>
              </a:rPr>
              <a:t>	</a:t>
            </a:r>
            <a:r>
              <a:rPr sz="1600" b="1" spc="-20" dirty="0">
                <a:solidFill>
                  <a:srgbClr val="157E7E"/>
                </a:solidFill>
                <a:latin typeface="Consolas"/>
                <a:cs typeface="Consolas"/>
              </a:rPr>
              <a:t>0.0,</a:t>
            </a:r>
            <a:r>
              <a:rPr sz="1600" b="1" dirty="0">
                <a:solidFill>
                  <a:srgbClr val="157E7E"/>
                </a:solidFill>
                <a:latin typeface="Consolas"/>
                <a:cs typeface="Consolas"/>
              </a:rPr>
              <a:t>	</a:t>
            </a:r>
            <a:r>
              <a:rPr sz="1600" b="1" spc="-20" dirty="0">
                <a:solidFill>
                  <a:srgbClr val="157E7E"/>
                </a:solidFill>
                <a:latin typeface="Consolas"/>
                <a:cs typeface="Consolas"/>
              </a:rPr>
              <a:t>0.0,</a:t>
            </a:r>
            <a:r>
              <a:rPr sz="1600" b="1" dirty="0">
                <a:solidFill>
                  <a:srgbClr val="157E7E"/>
                </a:solidFill>
                <a:latin typeface="Consolas"/>
                <a:cs typeface="Consolas"/>
              </a:rPr>
              <a:t>	</a:t>
            </a:r>
            <a:r>
              <a:rPr sz="1600" b="1" spc="-20" dirty="0">
                <a:solidFill>
                  <a:srgbClr val="157E7E"/>
                </a:solidFill>
                <a:latin typeface="Consolas"/>
                <a:cs typeface="Consolas"/>
              </a:rPr>
              <a:t>0.0,</a:t>
            </a:r>
            <a:r>
              <a:rPr sz="1600" b="1" dirty="0">
                <a:solidFill>
                  <a:srgbClr val="157E7E"/>
                </a:solidFill>
                <a:latin typeface="Consolas"/>
                <a:cs typeface="Consolas"/>
              </a:rPr>
              <a:t>	</a:t>
            </a:r>
            <a:r>
              <a:rPr sz="1600" b="1" spc="-20" dirty="0">
                <a:solidFill>
                  <a:srgbClr val="157E7E"/>
                </a:solidFill>
                <a:latin typeface="Consolas"/>
                <a:cs typeface="Consolas"/>
              </a:rPr>
              <a:t>0.0,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304788" y="3694887"/>
            <a:ext cx="4584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157E7E"/>
                </a:solidFill>
                <a:latin typeface="Consolas"/>
                <a:cs typeface="Consolas"/>
              </a:rPr>
              <a:t>0.0,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083806" y="3694887"/>
            <a:ext cx="679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54355" algn="l"/>
              </a:tabLst>
            </a:pPr>
            <a:r>
              <a:rPr sz="1600" b="1" spc="-25" dirty="0">
                <a:solidFill>
                  <a:srgbClr val="157E7E"/>
                </a:solidFill>
                <a:latin typeface="Consolas"/>
                <a:cs typeface="Consolas"/>
              </a:rPr>
              <a:t>0.0</a:t>
            </a:r>
            <a:r>
              <a:rPr sz="1600" b="1" dirty="0">
                <a:solidFill>
                  <a:srgbClr val="157E7E"/>
                </a:solidFill>
                <a:latin typeface="Consolas"/>
                <a:cs typeface="Consolas"/>
              </a:rPr>
              <a:t>	</a:t>
            </a:r>
            <a:r>
              <a:rPr sz="1600" b="1" spc="-50" dirty="0">
                <a:solidFill>
                  <a:srgbClr val="157E7E"/>
                </a:solidFill>
                <a:latin typeface="Consolas"/>
                <a:cs typeface="Consolas"/>
              </a:rPr>
              <a:t>]</a:t>
            </a:r>
            <a:endParaRPr sz="1600">
              <a:latin typeface="Consolas"/>
              <a:cs typeface="Consolas"/>
            </a:endParaRPr>
          </a:p>
        </p:txBody>
      </p:sp>
      <p:pic>
        <p:nvPicPr>
          <p:cNvPr id="52" name="object 5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77840" y="4217670"/>
            <a:ext cx="1005839" cy="925829"/>
          </a:xfrm>
          <a:prstGeom prst="rect">
            <a:avLst/>
          </a:prstGeom>
        </p:spPr>
      </p:pic>
      <p:grpSp>
        <p:nvGrpSpPr>
          <p:cNvPr id="53" name="object 37"/>
          <p:cNvGrpSpPr/>
          <p:nvPr/>
        </p:nvGrpSpPr>
        <p:grpSpPr>
          <a:xfrm>
            <a:off x="7591025" y="1096283"/>
            <a:ext cx="1222375" cy="2091055"/>
            <a:chOff x="6374891" y="1080516"/>
            <a:chExt cx="1222375" cy="2091055"/>
          </a:xfrm>
        </p:grpSpPr>
        <p:pic>
          <p:nvPicPr>
            <p:cNvPr id="54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74891" y="1080516"/>
              <a:ext cx="1222197" cy="2090927"/>
            </a:xfrm>
            <a:prstGeom prst="rect">
              <a:avLst/>
            </a:prstGeom>
          </p:spPr>
        </p:pic>
        <p:sp>
          <p:nvSpPr>
            <p:cNvPr id="55" name="object 39"/>
            <p:cNvSpPr/>
            <p:nvPr/>
          </p:nvSpPr>
          <p:spPr>
            <a:xfrm>
              <a:off x="6537959" y="1389888"/>
              <a:ext cx="960119" cy="1628139"/>
            </a:xfrm>
            <a:custGeom>
              <a:avLst/>
              <a:gdLst/>
              <a:ahLst/>
              <a:cxnLst/>
              <a:rect l="l" t="t" r="r" b="b"/>
              <a:pathLst>
                <a:path w="960120" h="1628139">
                  <a:moveTo>
                    <a:pt x="0" y="1627632"/>
                  </a:moveTo>
                  <a:lnTo>
                    <a:pt x="960120" y="1627632"/>
                  </a:lnTo>
                  <a:lnTo>
                    <a:pt x="960120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40"/>
            <p:cNvSpPr/>
            <p:nvPr/>
          </p:nvSpPr>
          <p:spPr>
            <a:xfrm>
              <a:off x="6537959" y="1188720"/>
              <a:ext cx="960119" cy="201295"/>
            </a:xfrm>
            <a:custGeom>
              <a:avLst/>
              <a:gdLst/>
              <a:ahLst/>
              <a:cxnLst/>
              <a:rect l="l" t="t" r="r" b="b"/>
              <a:pathLst>
                <a:path w="960120" h="201294">
                  <a:moveTo>
                    <a:pt x="960120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960120" y="201167"/>
                  </a:lnTo>
                  <a:lnTo>
                    <a:pt x="960120" y="0"/>
                  </a:lnTo>
                  <a:close/>
                </a:path>
              </a:pathLst>
            </a:custGeom>
            <a:solidFill>
              <a:srgbClr val="6B89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41"/>
          <p:cNvSpPr txBox="1"/>
          <p:nvPr/>
        </p:nvSpPr>
        <p:spPr>
          <a:xfrm>
            <a:off x="7661944" y="1513986"/>
            <a:ext cx="1104850" cy="9124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lang="en-US" sz="2200" spc="-25" dirty="0" smtClean="0">
                <a:solidFill>
                  <a:srgbClr val="6B8989"/>
                </a:solidFill>
                <a:latin typeface="Arial Black"/>
                <a:cs typeface="Arial Black"/>
              </a:rPr>
              <a:t>42</a:t>
            </a:r>
            <a:r>
              <a:rPr sz="2200" spc="-25" dirty="0" smtClean="0">
                <a:solidFill>
                  <a:srgbClr val="6B8989"/>
                </a:solidFill>
                <a:latin typeface="Arial Black"/>
                <a:cs typeface="Arial Black"/>
              </a:rPr>
              <a:t>%</a:t>
            </a:r>
            <a:endParaRPr sz="2200" dirty="0">
              <a:solidFill>
                <a:srgbClr val="6B8989"/>
              </a:solidFill>
              <a:latin typeface="Arial Black"/>
              <a:cs typeface="Arial Black"/>
            </a:endParaRPr>
          </a:p>
          <a:p>
            <a:pPr marL="298450" marR="291465" algn="ctr">
              <a:lnSpc>
                <a:spcPct val="100000"/>
              </a:lnSpc>
              <a:spcBef>
                <a:spcPts val="1540"/>
              </a:spcBef>
            </a:pPr>
            <a:r>
              <a:rPr lang="en-US" sz="1200" spc="-10" dirty="0" smtClean="0">
                <a:solidFill>
                  <a:srgbClr val="1A2D35"/>
                </a:solidFill>
                <a:latin typeface="Arial MT"/>
                <a:cs typeface="Arial MT"/>
              </a:rPr>
              <a:t>Suburb</a:t>
            </a:r>
            <a:r>
              <a:rPr lang="en-US" sz="1200" dirty="0">
                <a:latin typeface="Arial MT"/>
                <a:cs typeface="Arial MT"/>
              </a:rPr>
              <a:t> </a:t>
            </a:r>
            <a:r>
              <a:rPr lang="en-US" sz="1200" dirty="0" smtClean="0">
                <a:latin typeface="Arial MT"/>
                <a:cs typeface="Arial MT"/>
              </a:rPr>
              <a:t>North</a:t>
            </a:r>
            <a:endParaRPr lang="en-US" sz="1200" spc="-10" dirty="0" smtClean="0">
              <a:solidFill>
                <a:srgbClr val="1A2D35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60518"/>
            <a:ext cx="9144000" cy="982980"/>
            <a:chOff x="0" y="4160518"/>
            <a:chExt cx="9144000" cy="982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60518"/>
              <a:ext cx="731519" cy="914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29600" y="4297678"/>
              <a:ext cx="914400" cy="84581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1519" y="0"/>
            <a:ext cx="777240" cy="7772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3135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STEP</a:t>
            </a:r>
            <a:r>
              <a:rPr sz="3000" spc="-70" dirty="0"/>
              <a:t> </a:t>
            </a:r>
            <a:r>
              <a:rPr sz="3000" dirty="0"/>
              <a:t>2</a:t>
            </a:r>
            <a:r>
              <a:rPr sz="3000" spc="-35" dirty="0"/>
              <a:t> </a:t>
            </a:r>
            <a:r>
              <a:rPr sz="3000" dirty="0"/>
              <a:t>—</a:t>
            </a:r>
            <a:r>
              <a:rPr sz="3000" spc="-25" dirty="0"/>
              <a:t> </a:t>
            </a:r>
            <a:r>
              <a:rPr sz="3000" dirty="0"/>
              <a:t>Fitness</a:t>
            </a:r>
            <a:r>
              <a:rPr sz="3000" spc="-40" dirty="0"/>
              <a:t> </a:t>
            </a:r>
            <a:r>
              <a:rPr sz="3000" spc="-10" dirty="0"/>
              <a:t>Function</a:t>
            </a:r>
            <a:endParaRPr sz="3000"/>
          </a:p>
        </p:txBody>
      </p:sp>
      <p:sp>
        <p:nvSpPr>
          <p:cNvPr id="7" name="object 7"/>
          <p:cNvSpPr txBox="1"/>
          <p:nvPr/>
        </p:nvSpPr>
        <p:spPr>
          <a:xfrm>
            <a:off x="228600" y="749808"/>
            <a:ext cx="8686800" cy="502920"/>
          </a:xfrm>
          <a:prstGeom prst="rect">
            <a:avLst/>
          </a:prstGeom>
          <a:solidFill>
            <a:srgbClr val="157E7E"/>
          </a:solidFill>
        </p:spPr>
        <p:txBody>
          <a:bodyPr vert="horz" wrap="square" lIns="0" tIns="1206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0"/>
              </a:spcBef>
              <a:tabLst>
                <a:tab pos="946785" algn="l"/>
                <a:tab pos="1263015" algn="l"/>
                <a:tab pos="3672204" algn="l"/>
                <a:tab pos="3986529" algn="l"/>
              </a:tabLst>
            </a:pPr>
            <a:r>
              <a:rPr sz="1500" b="1" spc="-10" dirty="0">
                <a:solidFill>
                  <a:srgbClr val="FFD166"/>
                </a:solidFill>
                <a:latin typeface="Consolas"/>
                <a:cs typeface="Consolas"/>
              </a:rPr>
              <a:t>fitness</a:t>
            </a:r>
            <a:r>
              <a:rPr sz="15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500" b="1" spc="-50" dirty="0">
                <a:solidFill>
                  <a:srgbClr val="FFD166"/>
                </a:solidFill>
                <a:latin typeface="Consolas"/>
                <a:cs typeface="Consolas"/>
              </a:rPr>
              <a:t>=</a:t>
            </a:r>
            <a:r>
              <a:rPr sz="1500" b="1" dirty="0">
                <a:solidFill>
                  <a:srgbClr val="FFD166"/>
                </a:solidFill>
                <a:latin typeface="Consolas"/>
                <a:cs typeface="Consolas"/>
              </a:rPr>
              <a:t>	(</a:t>
            </a:r>
            <a:r>
              <a:rPr sz="1500" b="1" spc="-30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500" b="1" dirty="0">
                <a:solidFill>
                  <a:srgbClr val="FFD166"/>
                </a:solidFill>
                <a:latin typeface="Consolas"/>
                <a:cs typeface="Consolas"/>
              </a:rPr>
              <a:t>0.5</a:t>
            </a:r>
            <a:r>
              <a:rPr sz="1500" b="1" spc="-40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500" b="1" dirty="0">
                <a:solidFill>
                  <a:srgbClr val="FFD166"/>
                </a:solidFill>
                <a:latin typeface="Consolas"/>
                <a:cs typeface="Consolas"/>
              </a:rPr>
              <a:t>×</a:t>
            </a:r>
            <a:r>
              <a:rPr sz="1500" b="1" spc="-25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500" b="1" spc="-10" dirty="0">
                <a:solidFill>
                  <a:srgbClr val="FFD166"/>
                </a:solidFill>
                <a:latin typeface="Consolas"/>
                <a:cs typeface="Consolas"/>
              </a:rPr>
              <a:t>norm_infected</a:t>
            </a:r>
            <a:r>
              <a:rPr sz="15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500" b="1" spc="-50" dirty="0">
                <a:solidFill>
                  <a:srgbClr val="FFD166"/>
                </a:solidFill>
                <a:latin typeface="Consolas"/>
                <a:cs typeface="Consolas"/>
              </a:rPr>
              <a:t>+</a:t>
            </a:r>
            <a:r>
              <a:rPr sz="1500" b="1" dirty="0">
                <a:solidFill>
                  <a:srgbClr val="FFD166"/>
                </a:solidFill>
                <a:latin typeface="Consolas"/>
                <a:cs typeface="Consolas"/>
              </a:rPr>
              <a:t>	0.5</a:t>
            </a:r>
            <a:r>
              <a:rPr sz="1500" b="1" spc="-95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500" b="1" dirty="0">
                <a:solidFill>
                  <a:srgbClr val="FFD166"/>
                </a:solidFill>
                <a:latin typeface="Consolas"/>
                <a:cs typeface="Consolas"/>
              </a:rPr>
              <a:t>×</a:t>
            </a:r>
            <a:r>
              <a:rPr sz="1500" b="1" spc="-35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500" b="1" dirty="0">
                <a:solidFill>
                  <a:srgbClr val="FFD166"/>
                </a:solidFill>
                <a:latin typeface="Consolas"/>
                <a:cs typeface="Consolas"/>
              </a:rPr>
              <a:t>norm_cost</a:t>
            </a:r>
            <a:r>
              <a:rPr sz="1500" b="1" spc="-40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500" b="1" spc="-50" dirty="0">
                <a:solidFill>
                  <a:srgbClr val="FFD166"/>
                </a:solidFill>
                <a:latin typeface="Consolas"/>
                <a:cs typeface="Consolas"/>
              </a:rPr>
              <a:t>)</a:t>
            </a:r>
            <a:endParaRPr sz="15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5531" y="1281683"/>
            <a:ext cx="4486910" cy="1652270"/>
            <a:chOff x="65531" y="1281683"/>
            <a:chExt cx="4486910" cy="165227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1" y="1281683"/>
              <a:ext cx="4486655" cy="16520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28600" y="1389887"/>
              <a:ext cx="4224655" cy="1390015"/>
            </a:xfrm>
            <a:custGeom>
              <a:avLst/>
              <a:gdLst/>
              <a:ahLst/>
              <a:cxnLst/>
              <a:rect l="l" t="t" r="r" b="b"/>
              <a:pathLst>
                <a:path w="4224655" h="1390014">
                  <a:moveTo>
                    <a:pt x="4224528" y="0"/>
                  </a:moveTo>
                  <a:lnTo>
                    <a:pt x="0" y="0"/>
                  </a:lnTo>
                  <a:lnTo>
                    <a:pt x="0" y="1389888"/>
                  </a:lnTo>
                  <a:lnTo>
                    <a:pt x="4224528" y="1389888"/>
                  </a:lnTo>
                  <a:lnTo>
                    <a:pt x="4224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65759" y="152704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E639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24660" y="1852531"/>
            <a:ext cx="248729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3730">
              <a:lnSpc>
                <a:spcPct val="125299"/>
              </a:lnSpc>
              <a:spcBef>
                <a:spcPts val="100"/>
              </a:spcBef>
            </a:pP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eff_R</a:t>
            </a:r>
            <a:r>
              <a:rPr sz="950" spc="-5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R0 ×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risk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×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(1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400" dirty="0">
                <a:solidFill>
                  <a:srgbClr val="6B8989"/>
                </a:solidFill>
                <a:latin typeface="Arial MT"/>
                <a:cs typeface="Arial MT"/>
              </a:rPr>
              <a:t>−</a:t>
            </a:r>
            <a:r>
              <a:rPr sz="950" spc="-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restriction)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R0=2.5</a:t>
            </a:r>
            <a:r>
              <a:rPr sz="95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is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real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COVID-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19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value.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risk</a:t>
            </a:r>
            <a:r>
              <a:rPr sz="95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adjusts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per</a:t>
            </a:r>
            <a:r>
              <a:rPr sz="95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zone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density.</a:t>
            </a:r>
            <a:endParaRPr sz="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r>
              <a:rPr sz="950" spc="-35" dirty="0">
                <a:solidFill>
                  <a:srgbClr val="6B8989"/>
                </a:solidFill>
                <a:latin typeface="Arial MT"/>
                <a:cs typeface="Arial MT"/>
              </a:rPr>
              <a:t>(1−restriction)</a:t>
            </a:r>
            <a:r>
              <a:rPr sz="95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sz="950" spc="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fraction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of</a:t>
            </a:r>
            <a:r>
              <a:rPr sz="950" spc="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contacts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remaining.</a:t>
            </a:r>
            <a:endParaRPr sz="95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27803" y="1281683"/>
            <a:ext cx="4486910" cy="1652270"/>
            <a:chOff x="4527803" y="1281683"/>
            <a:chExt cx="4486910" cy="165227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7803" y="1281683"/>
              <a:ext cx="4486655" cy="165201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90871" y="1389887"/>
              <a:ext cx="4224655" cy="1390015"/>
            </a:xfrm>
            <a:custGeom>
              <a:avLst/>
              <a:gdLst/>
              <a:ahLst/>
              <a:cxnLst/>
              <a:rect l="l" t="t" r="r" b="b"/>
              <a:pathLst>
                <a:path w="4224655" h="1390014">
                  <a:moveTo>
                    <a:pt x="4224528" y="0"/>
                  </a:moveTo>
                  <a:lnTo>
                    <a:pt x="0" y="0"/>
                  </a:lnTo>
                  <a:lnTo>
                    <a:pt x="0" y="1389888"/>
                  </a:lnTo>
                  <a:lnTo>
                    <a:pt x="4224528" y="1389888"/>
                  </a:lnTo>
                  <a:lnTo>
                    <a:pt x="4224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828031" y="152704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19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7A5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88289" y="1624711"/>
            <a:ext cx="473583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462780" algn="l"/>
              </a:tabLst>
            </a:pPr>
            <a:r>
              <a:rPr sz="1700" spc="-50" dirty="0">
                <a:solidFill>
                  <a:srgbClr val="FFFFFF"/>
                </a:solidFill>
                <a:latin typeface="Cambria Math"/>
                <a:cs typeface="Cambria Math"/>
              </a:rPr>
              <a:t>①</a:t>
            </a:r>
            <a:r>
              <a:rPr sz="1700" dirty="0">
                <a:solidFill>
                  <a:srgbClr val="FFFFFF"/>
                </a:solidFill>
                <a:latin typeface="Cambria Math"/>
                <a:cs typeface="Cambria Math"/>
              </a:rPr>
              <a:t>	</a:t>
            </a:r>
            <a:r>
              <a:rPr sz="1700" spc="-50" dirty="0">
                <a:solidFill>
                  <a:srgbClr val="FFFFFF"/>
                </a:solidFill>
                <a:latin typeface="Cambria Math"/>
                <a:cs typeface="Cambria Math"/>
              </a:rPr>
              <a:t>②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51864" y="1560702"/>
            <a:ext cx="563816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4462780" algn="l"/>
              </a:tabLst>
            </a:pPr>
            <a:r>
              <a:rPr sz="1400" dirty="0">
                <a:solidFill>
                  <a:srgbClr val="E63946"/>
                </a:solidFill>
                <a:latin typeface="Arial Black"/>
                <a:cs typeface="Arial Black"/>
              </a:rPr>
              <a:t>Effective</a:t>
            </a:r>
            <a:r>
              <a:rPr sz="1400" spc="-75" dirty="0">
                <a:solidFill>
                  <a:srgbClr val="E63946"/>
                </a:solidFill>
                <a:latin typeface="Arial Black"/>
                <a:cs typeface="Arial Black"/>
              </a:rPr>
              <a:t> </a:t>
            </a:r>
            <a:r>
              <a:rPr sz="1400" spc="-50" dirty="0">
                <a:solidFill>
                  <a:srgbClr val="E63946"/>
                </a:solidFill>
                <a:latin typeface="Arial Black"/>
                <a:cs typeface="Arial Black"/>
              </a:rPr>
              <a:t>R</a:t>
            </a:r>
            <a:r>
              <a:rPr sz="1400" dirty="0">
                <a:solidFill>
                  <a:srgbClr val="E63946"/>
                </a:solidFill>
                <a:latin typeface="Arial Black"/>
                <a:cs typeface="Arial Black"/>
              </a:rPr>
              <a:t>	</a:t>
            </a:r>
            <a:r>
              <a:rPr sz="1400" dirty="0">
                <a:solidFill>
                  <a:srgbClr val="7A5EA7"/>
                </a:solidFill>
                <a:latin typeface="Arial Black"/>
                <a:cs typeface="Arial Black"/>
              </a:rPr>
              <a:t>Attack</a:t>
            </a:r>
            <a:r>
              <a:rPr sz="1400" spc="-80" dirty="0">
                <a:solidFill>
                  <a:srgbClr val="7A5EA7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7A5EA7"/>
                </a:solidFill>
                <a:latin typeface="Arial Black"/>
                <a:cs typeface="Arial Black"/>
              </a:rPr>
              <a:t>Rate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84367" y="1880494"/>
            <a:ext cx="260286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5920">
              <a:lnSpc>
                <a:spcPct val="125299"/>
              </a:lnSpc>
              <a:spcBef>
                <a:spcPts val="100"/>
              </a:spcBef>
            </a:pP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attack_rate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= 1 </a:t>
            </a:r>
            <a:r>
              <a:rPr sz="950" spc="-400" dirty="0">
                <a:solidFill>
                  <a:srgbClr val="6B8989"/>
                </a:solidFill>
                <a:latin typeface="Arial MT"/>
                <a:cs typeface="Arial MT"/>
              </a:rPr>
              <a:t>−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(1/eff_R)</a:t>
            </a:r>
            <a:r>
              <a:rPr sz="950" spc="229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if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eff_R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&gt; </a:t>
            </a:r>
            <a:r>
              <a:rPr sz="950" spc="-50" dirty="0">
                <a:solidFill>
                  <a:srgbClr val="6B8989"/>
                </a:solidFill>
                <a:latin typeface="Arial MT"/>
                <a:cs typeface="Arial MT"/>
              </a:rPr>
              <a:t>1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Fraction</a:t>
            </a:r>
            <a:r>
              <a:rPr sz="950" spc="-4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of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population</a:t>
            </a:r>
            <a:r>
              <a:rPr sz="950" spc="-5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eventually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infected.</a:t>
            </a:r>
            <a:endParaRPr sz="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From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real</a:t>
            </a:r>
            <a:r>
              <a:rPr sz="95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epidemiology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(herd</a:t>
            </a:r>
            <a:r>
              <a:rPr sz="950" spc="-3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immunity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formula).</a:t>
            </a:r>
            <a:endParaRPr sz="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If</a:t>
            </a:r>
            <a:r>
              <a:rPr sz="950" spc="-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eff_R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≤ 1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→</a:t>
            </a:r>
            <a:r>
              <a:rPr sz="950" spc="-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disease</a:t>
            </a:r>
            <a:r>
              <a:rPr sz="95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dying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out →</a:t>
            </a:r>
            <a:r>
              <a:rPr sz="950" spc="-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rate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sz="950" spc="-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6B8989"/>
                </a:solidFill>
                <a:latin typeface="Arial MT"/>
                <a:cs typeface="Arial MT"/>
              </a:rPr>
              <a:t>0.</a:t>
            </a:r>
            <a:endParaRPr sz="950" dirty="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5531" y="2763024"/>
            <a:ext cx="4486910" cy="1652270"/>
            <a:chOff x="65531" y="2763024"/>
            <a:chExt cx="4486910" cy="1652270"/>
          </a:xfrm>
        </p:grpSpPr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1" y="2763024"/>
              <a:ext cx="4486656" cy="16520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28600" y="2871216"/>
              <a:ext cx="4224655" cy="1390015"/>
            </a:xfrm>
            <a:custGeom>
              <a:avLst/>
              <a:gdLst/>
              <a:ahLst/>
              <a:cxnLst/>
              <a:rect l="l" t="t" r="r" b="b"/>
              <a:pathLst>
                <a:path w="4224655" h="1390014">
                  <a:moveTo>
                    <a:pt x="4224528" y="0"/>
                  </a:moveTo>
                  <a:lnTo>
                    <a:pt x="0" y="0"/>
                  </a:lnTo>
                  <a:lnTo>
                    <a:pt x="0" y="1389888"/>
                  </a:lnTo>
                  <a:lnTo>
                    <a:pt x="4224528" y="1389888"/>
                  </a:lnTo>
                  <a:lnTo>
                    <a:pt x="4224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5759" y="300837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460" y="0"/>
                  </a:moveTo>
                  <a:lnTo>
                    <a:pt x="206260" y="4049"/>
                  </a:lnTo>
                  <a:lnTo>
                    <a:pt x="163718" y="15725"/>
                  </a:lnTo>
                  <a:lnTo>
                    <a:pt x="124544" y="34318"/>
                  </a:lnTo>
                  <a:lnTo>
                    <a:pt x="89448" y="59120"/>
                  </a:lnTo>
                  <a:lnTo>
                    <a:pt x="59141" y="89422"/>
                  </a:lnTo>
                  <a:lnTo>
                    <a:pt x="34332" y="124516"/>
                  </a:lnTo>
                  <a:lnTo>
                    <a:pt x="15732" y="163693"/>
                  </a:lnTo>
                  <a:lnTo>
                    <a:pt x="4051" y="206243"/>
                  </a:lnTo>
                  <a:lnTo>
                    <a:pt x="0" y="251460"/>
                  </a:lnTo>
                  <a:lnTo>
                    <a:pt x="4051" y="296676"/>
                  </a:lnTo>
                  <a:lnTo>
                    <a:pt x="15732" y="339226"/>
                  </a:lnTo>
                  <a:lnTo>
                    <a:pt x="34332" y="378403"/>
                  </a:lnTo>
                  <a:lnTo>
                    <a:pt x="59141" y="413497"/>
                  </a:lnTo>
                  <a:lnTo>
                    <a:pt x="89448" y="443799"/>
                  </a:lnTo>
                  <a:lnTo>
                    <a:pt x="124544" y="468601"/>
                  </a:lnTo>
                  <a:lnTo>
                    <a:pt x="163718" y="487194"/>
                  </a:lnTo>
                  <a:lnTo>
                    <a:pt x="206260" y="498870"/>
                  </a:lnTo>
                  <a:lnTo>
                    <a:pt x="251460" y="502919"/>
                  </a:lnTo>
                  <a:lnTo>
                    <a:pt x="296659" y="498870"/>
                  </a:lnTo>
                  <a:lnTo>
                    <a:pt x="339201" y="487194"/>
                  </a:lnTo>
                  <a:lnTo>
                    <a:pt x="378375" y="468601"/>
                  </a:lnTo>
                  <a:lnTo>
                    <a:pt x="413471" y="443799"/>
                  </a:lnTo>
                  <a:lnTo>
                    <a:pt x="443778" y="413497"/>
                  </a:lnTo>
                  <a:lnTo>
                    <a:pt x="468587" y="378403"/>
                  </a:lnTo>
                  <a:lnTo>
                    <a:pt x="487187" y="339226"/>
                  </a:lnTo>
                  <a:lnTo>
                    <a:pt x="498868" y="296676"/>
                  </a:lnTo>
                  <a:lnTo>
                    <a:pt x="502920" y="251460"/>
                  </a:lnTo>
                  <a:lnTo>
                    <a:pt x="498868" y="206243"/>
                  </a:lnTo>
                  <a:lnTo>
                    <a:pt x="487187" y="163693"/>
                  </a:lnTo>
                  <a:lnTo>
                    <a:pt x="468587" y="124516"/>
                  </a:lnTo>
                  <a:lnTo>
                    <a:pt x="443778" y="89422"/>
                  </a:lnTo>
                  <a:lnTo>
                    <a:pt x="413471" y="59120"/>
                  </a:lnTo>
                  <a:lnTo>
                    <a:pt x="378375" y="34318"/>
                  </a:lnTo>
                  <a:lnTo>
                    <a:pt x="339201" y="15725"/>
                  </a:lnTo>
                  <a:lnTo>
                    <a:pt x="296659" y="4049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DF7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88289" y="3106293"/>
            <a:ext cx="273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FFFFFF"/>
                </a:solidFill>
                <a:latin typeface="Cambria Math"/>
                <a:cs typeface="Cambria Math"/>
              </a:rPr>
              <a:t>③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1864" y="3042285"/>
            <a:ext cx="15932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F7A00"/>
                </a:solidFill>
                <a:latin typeface="Arial Black"/>
                <a:cs typeface="Arial Black"/>
              </a:rPr>
              <a:t>Residual</a:t>
            </a:r>
            <a:r>
              <a:rPr sz="1400" spc="-65" dirty="0">
                <a:solidFill>
                  <a:srgbClr val="DF7A00"/>
                </a:solidFill>
                <a:latin typeface="Arial Black"/>
                <a:cs typeface="Arial Black"/>
              </a:rPr>
              <a:t> </a:t>
            </a:r>
            <a:r>
              <a:rPr sz="1400" spc="-10" dirty="0">
                <a:solidFill>
                  <a:srgbClr val="DF7A00"/>
                </a:solidFill>
                <a:latin typeface="Arial Black"/>
                <a:cs typeface="Arial Black"/>
              </a:rPr>
              <a:t>Spread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7348" y="3353305"/>
            <a:ext cx="2635250" cy="7505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infected</a:t>
            </a:r>
            <a:r>
              <a:rPr sz="950" spc="-4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pop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×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(attack_rate</a:t>
            </a:r>
            <a:r>
              <a:rPr sz="950" spc="-3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+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0.02)</a:t>
            </a:r>
            <a:endParaRPr sz="950" dirty="0">
              <a:latin typeface="Arial MT"/>
              <a:cs typeface="Arial MT"/>
            </a:endParaRPr>
          </a:p>
          <a:p>
            <a:pPr marR="320040">
              <a:lnSpc>
                <a:spcPct val="125299"/>
              </a:lnSpc>
              <a:spcBef>
                <a:spcPts val="5"/>
              </a:spcBef>
            </a:pP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0.02</a:t>
            </a:r>
            <a:r>
              <a:rPr sz="95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2%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always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infected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regardless.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Essential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workers,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household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transmission.</a:t>
            </a:r>
            <a:endParaRPr sz="9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Mirrors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real</a:t>
            </a:r>
            <a:r>
              <a:rPr sz="95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COVID</a:t>
            </a:r>
            <a:r>
              <a:rPr sz="950" spc="-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—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zero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infections</a:t>
            </a:r>
            <a:r>
              <a:rPr sz="950" spc="-5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impossible.</a:t>
            </a:r>
            <a:endParaRPr sz="950" dirty="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11040" y="2753880"/>
            <a:ext cx="4486910" cy="1652270"/>
            <a:chOff x="4511040" y="2753880"/>
            <a:chExt cx="4486910" cy="165227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1040" y="2753880"/>
              <a:ext cx="4486656" cy="1652016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73473" y="2862503"/>
              <a:ext cx="4224655" cy="1390015"/>
            </a:xfrm>
            <a:custGeom>
              <a:avLst/>
              <a:gdLst/>
              <a:ahLst/>
              <a:cxnLst/>
              <a:rect l="l" t="t" r="r" b="b"/>
              <a:pathLst>
                <a:path w="4224655" h="1390014">
                  <a:moveTo>
                    <a:pt x="4224528" y="0"/>
                  </a:moveTo>
                  <a:lnTo>
                    <a:pt x="0" y="0"/>
                  </a:lnTo>
                  <a:lnTo>
                    <a:pt x="0" y="1389888"/>
                  </a:lnTo>
                  <a:lnTo>
                    <a:pt x="4224528" y="1389888"/>
                  </a:lnTo>
                  <a:lnTo>
                    <a:pt x="42245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828032" y="3008376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20" h="502920">
                  <a:moveTo>
                    <a:pt x="251459" y="0"/>
                  </a:moveTo>
                  <a:lnTo>
                    <a:pt x="206243" y="4049"/>
                  </a:lnTo>
                  <a:lnTo>
                    <a:pt x="163693" y="15725"/>
                  </a:lnTo>
                  <a:lnTo>
                    <a:pt x="124516" y="34318"/>
                  </a:lnTo>
                  <a:lnTo>
                    <a:pt x="89422" y="59120"/>
                  </a:lnTo>
                  <a:lnTo>
                    <a:pt x="59120" y="89422"/>
                  </a:lnTo>
                  <a:lnTo>
                    <a:pt x="34318" y="124516"/>
                  </a:lnTo>
                  <a:lnTo>
                    <a:pt x="15725" y="163693"/>
                  </a:lnTo>
                  <a:lnTo>
                    <a:pt x="4049" y="206243"/>
                  </a:lnTo>
                  <a:lnTo>
                    <a:pt x="0" y="251460"/>
                  </a:lnTo>
                  <a:lnTo>
                    <a:pt x="4049" y="296676"/>
                  </a:lnTo>
                  <a:lnTo>
                    <a:pt x="15725" y="339226"/>
                  </a:lnTo>
                  <a:lnTo>
                    <a:pt x="34318" y="378403"/>
                  </a:lnTo>
                  <a:lnTo>
                    <a:pt x="59120" y="413497"/>
                  </a:lnTo>
                  <a:lnTo>
                    <a:pt x="89422" y="443799"/>
                  </a:lnTo>
                  <a:lnTo>
                    <a:pt x="124516" y="468601"/>
                  </a:lnTo>
                  <a:lnTo>
                    <a:pt x="163693" y="487194"/>
                  </a:lnTo>
                  <a:lnTo>
                    <a:pt x="206243" y="498870"/>
                  </a:lnTo>
                  <a:lnTo>
                    <a:pt x="251459" y="502919"/>
                  </a:lnTo>
                  <a:lnTo>
                    <a:pt x="296676" y="498870"/>
                  </a:lnTo>
                  <a:lnTo>
                    <a:pt x="339226" y="487194"/>
                  </a:lnTo>
                  <a:lnTo>
                    <a:pt x="378403" y="468601"/>
                  </a:lnTo>
                  <a:lnTo>
                    <a:pt x="413497" y="443799"/>
                  </a:lnTo>
                  <a:lnTo>
                    <a:pt x="443799" y="413497"/>
                  </a:lnTo>
                  <a:lnTo>
                    <a:pt x="468601" y="378403"/>
                  </a:lnTo>
                  <a:lnTo>
                    <a:pt x="487194" y="339226"/>
                  </a:lnTo>
                  <a:lnTo>
                    <a:pt x="498870" y="296676"/>
                  </a:lnTo>
                  <a:lnTo>
                    <a:pt x="502919" y="251460"/>
                  </a:lnTo>
                  <a:lnTo>
                    <a:pt x="498870" y="206243"/>
                  </a:lnTo>
                  <a:lnTo>
                    <a:pt x="487194" y="163693"/>
                  </a:lnTo>
                  <a:lnTo>
                    <a:pt x="468601" y="124516"/>
                  </a:lnTo>
                  <a:lnTo>
                    <a:pt x="443799" y="89422"/>
                  </a:lnTo>
                  <a:lnTo>
                    <a:pt x="413497" y="59120"/>
                  </a:lnTo>
                  <a:lnTo>
                    <a:pt x="378403" y="34318"/>
                  </a:lnTo>
                  <a:lnTo>
                    <a:pt x="339226" y="15725"/>
                  </a:lnTo>
                  <a:lnTo>
                    <a:pt x="296676" y="4049"/>
                  </a:lnTo>
                  <a:lnTo>
                    <a:pt x="251459" y="0"/>
                  </a:lnTo>
                  <a:close/>
                </a:path>
              </a:pathLst>
            </a:custGeom>
            <a:solidFill>
              <a:srgbClr val="2CC5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51221" y="3106293"/>
            <a:ext cx="27305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700" spc="-50" dirty="0">
                <a:solidFill>
                  <a:srgbClr val="FFFFFF"/>
                </a:solidFill>
                <a:latin typeface="Cambria Math"/>
                <a:cs typeface="Cambria Math"/>
              </a:rPr>
              <a:t>④</a:t>
            </a:r>
            <a:endParaRPr sz="17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14721" y="3042285"/>
            <a:ext cx="14776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CC552"/>
                </a:solidFill>
                <a:latin typeface="Arial Black"/>
                <a:cs typeface="Arial Black"/>
              </a:rPr>
              <a:t>Economic</a:t>
            </a:r>
            <a:r>
              <a:rPr sz="1400" spc="-20" dirty="0">
                <a:solidFill>
                  <a:srgbClr val="2CC552"/>
                </a:solidFill>
                <a:latin typeface="Arial Black"/>
                <a:cs typeface="Arial Black"/>
              </a:rPr>
              <a:t> Cost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77203" y="3371013"/>
            <a:ext cx="3072765" cy="561692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cost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restriction</a:t>
            </a:r>
            <a:r>
              <a:rPr sz="95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×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pop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×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100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×</a:t>
            </a:r>
            <a:r>
              <a:rPr sz="95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econ_val</a:t>
            </a:r>
            <a:endParaRPr sz="950" dirty="0">
              <a:latin typeface="Arial MT"/>
              <a:cs typeface="Arial MT"/>
            </a:endParaRPr>
          </a:p>
          <a:p>
            <a:pPr marR="5080">
              <a:lnSpc>
                <a:spcPct val="124700"/>
              </a:lnSpc>
              <a:spcBef>
                <a:spcPts val="10"/>
              </a:spcBef>
            </a:pPr>
            <a:r>
              <a:rPr sz="950" dirty="0" smtClean="0">
                <a:solidFill>
                  <a:srgbClr val="6B8989"/>
                </a:solidFill>
                <a:latin typeface="Arial MT"/>
                <a:cs typeface="Arial MT"/>
              </a:rPr>
              <a:t>10</a:t>
            </a:r>
            <a:r>
              <a:rPr lang="en-US" sz="950" dirty="0" smtClean="0">
                <a:solidFill>
                  <a:srgbClr val="6B8989"/>
                </a:solidFill>
                <a:latin typeface="Arial MT"/>
                <a:cs typeface="Arial MT"/>
              </a:rPr>
              <a:t>0</a:t>
            </a:r>
            <a:r>
              <a:rPr sz="950" spc="-1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Money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lost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per</a:t>
            </a:r>
            <a:r>
              <a:rPr sz="950" spc="-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person</a:t>
            </a:r>
            <a:r>
              <a:rPr sz="95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per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100%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restriction. </a:t>
            </a:r>
            <a:r>
              <a:rPr sz="950" dirty="0" err="1" smtClean="0">
                <a:solidFill>
                  <a:srgbClr val="6B8989"/>
                </a:solidFill>
                <a:latin typeface="Arial MT"/>
                <a:cs typeface="Arial MT"/>
              </a:rPr>
              <a:t>econ_val</a:t>
            </a:r>
            <a:r>
              <a:rPr lang="en-US" sz="95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 smtClean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lang="en-US" sz="95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 smtClean="0">
                <a:solidFill>
                  <a:srgbClr val="6B8989"/>
                </a:solidFill>
                <a:latin typeface="Arial MT"/>
                <a:cs typeface="Arial MT"/>
              </a:rPr>
              <a:t>2</a:t>
            </a:r>
            <a:r>
              <a:rPr sz="950" spc="-3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for</a:t>
            </a:r>
            <a:r>
              <a:rPr sz="95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Industrial</a:t>
            </a:r>
            <a:r>
              <a:rPr sz="95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Zone</a:t>
            </a:r>
            <a:r>
              <a:rPr sz="95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6B8989"/>
                </a:solidFill>
                <a:latin typeface="Arial MT"/>
                <a:cs typeface="Arial MT"/>
              </a:rPr>
              <a:t>→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 smtClean="0">
                <a:solidFill>
                  <a:srgbClr val="6B8989"/>
                </a:solidFill>
                <a:latin typeface="Arial MT"/>
                <a:cs typeface="Arial MT"/>
              </a:rPr>
              <a:t>2×</a:t>
            </a:r>
            <a:r>
              <a:rPr sz="950" spc="-2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dirty="0" smtClean="0">
                <a:solidFill>
                  <a:srgbClr val="6B8989"/>
                </a:solidFill>
                <a:latin typeface="Arial MT"/>
                <a:cs typeface="Arial MT"/>
              </a:rPr>
              <a:t>more</a:t>
            </a:r>
            <a:r>
              <a:rPr sz="950" spc="-1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6B8989"/>
                </a:solidFill>
                <a:latin typeface="Arial MT"/>
                <a:cs typeface="Arial MT"/>
              </a:rPr>
              <a:t>expensive. </a:t>
            </a:r>
            <a:endParaRPr sz="950" dirty="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63929" y="4557383"/>
            <a:ext cx="72161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PSO</a:t>
            </a:r>
            <a:r>
              <a:rPr sz="1400" b="1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looks</a:t>
            </a:r>
            <a:r>
              <a:rPr sz="1400" b="1"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for</a:t>
            </a:r>
            <a:r>
              <a:rPr sz="1400" b="1" i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sz="1400" b="1"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minimum</a:t>
            </a:r>
            <a:r>
              <a:rPr sz="1400" b="1"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fitness</a:t>
            </a:r>
            <a:r>
              <a:rPr sz="1400" b="1" i="1" spc="3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→</a:t>
            </a:r>
            <a:r>
              <a:rPr sz="1400" b="1" i="1" spc="3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fewer</a:t>
            </a:r>
            <a:r>
              <a:rPr sz="1400" b="1" i="1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infections</a:t>
            </a:r>
            <a:r>
              <a:rPr sz="1400" b="1" i="1" spc="-5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+</a:t>
            </a:r>
            <a:r>
              <a:rPr sz="1400" b="1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less</a:t>
            </a:r>
            <a:r>
              <a:rPr sz="1400" b="1" i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damage</a:t>
            </a:r>
            <a:r>
              <a:rPr sz="1400" b="1" i="1" spc="-3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=</a:t>
            </a:r>
            <a:r>
              <a:rPr sz="1400" b="1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better</a:t>
            </a:r>
            <a:r>
              <a:rPr sz="1400" b="1" i="1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spc="-10" dirty="0">
                <a:solidFill>
                  <a:schemeClr val="bg1"/>
                </a:solidFill>
                <a:latin typeface="Arial"/>
                <a:cs typeface="Arial"/>
              </a:rPr>
              <a:t>policy</a:t>
            </a:r>
            <a:endParaRPr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297679"/>
            <a:ext cx="9144000" cy="845819"/>
            <a:chOff x="0" y="4297679"/>
            <a:chExt cx="9144000" cy="84581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767" y="4325110"/>
              <a:ext cx="914400" cy="8183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34756" y="4407407"/>
              <a:ext cx="809244" cy="73609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89020" y="4507991"/>
              <a:ext cx="777239" cy="6355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13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45" dirty="0"/>
              <a:t> </a:t>
            </a:r>
            <a:r>
              <a:rPr dirty="0"/>
              <a:t>3</a:t>
            </a:r>
            <a:r>
              <a:rPr spc="-80" dirty="0"/>
              <a:t> </a:t>
            </a:r>
            <a:r>
              <a:rPr dirty="0"/>
              <a:t>—</a:t>
            </a:r>
            <a:r>
              <a:rPr spc="-65" dirty="0"/>
              <a:t> </a:t>
            </a:r>
            <a:r>
              <a:rPr dirty="0"/>
              <a:t>Velocity</a:t>
            </a:r>
            <a:r>
              <a:rPr spc="-60" dirty="0"/>
              <a:t> </a:t>
            </a:r>
            <a:r>
              <a:rPr dirty="0"/>
              <a:t>&amp;</a:t>
            </a:r>
            <a:r>
              <a:rPr spc="-70" dirty="0"/>
              <a:t> </a:t>
            </a:r>
            <a:r>
              <a:rPr dirty="0"/>
              <a:t>Position</a:t>
            </a:r>
            <a:r>
              <a:rPr spc="-65" dirty="0"/>
              <a:t> </a:t>
            </a:r>
            <a:r>
              <a:rPr spc="-10" dirty="0"/>
              <a:t>Update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1168" y="617219"/>
            <a:ext cx="8686800" cy="457200"/>
          </a:xfrm>
          <a:prstGeom prst="rect">
            <a:avLst/>
          </a:prstGeom>
          <a:solidFill>
            <a:srgbClr val="157E7E"/>
          </a:solidFill>
        </p:spPr>
        <p:txBody>
          <a:bodyPr vert="horz" wrap="square" lIns="0" tIns="12001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44"/>
              </a:spcBef>
              <a:tabLst>
                <a:tab pos="631825" algn="l"/>
                <a:tab pos="902969" algn="l"/>
                <a:tab pos="1716405" algn="l"/>
                <a:tab pos="1987550" algn="l"/>
                <a:tab pos="3889375" algn="l"/>
                <a:tab pos="4160520" algn="l"/>
              </a:tabLst>
            </a:pPr>
            <a:r>
              <a:rPr sz="1300" b="1" spc="-10" dirty="0">
                <a:solidFill>
                  <a:srgbClr val="FFD166"/>
                </a:solidFill>
                <a:latin typeface="Consolas"/>
                <a:cs typeface="Consolas"/>
              </a:rPr>
              <a:t>v_new</a:t>
            </a:r>
            <a:r>
              <a:rPr sz="13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300" b="1" spc="-50" dirty="0">
                <a:solidFill>
                  <a:srgbClr val="FFD166"/>
                </a:solidFill>
                <a:latin typeface="Consolas"/>
                <a:cs typeface="Consolas"/>
              </a:rPr>
              <a:t>=</a:t>
            </a:r>
            <a:r>
              <a:rPr sz="13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300" b="1" spc="-10" dirty="0">
                <a:solidFill>
                  <a:srgbClr val="FFD166"/>
                </a:solidFill>
                <a:latin typeface="Consolas"/>
                <a:cs typeface="Consolas"/>
              </a:rPr>
              <a:t>w·v_old</a:t>
            </a:r>
            <a:r>
              <a:rPr sz="13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300" b="1" spc="-50" dirty="0">
                <a:solidFill>
                  <a:srgbClr val="FFD166"/>
                </a:solidFill>
                <a:latin typeface="Consolas"/>
                <a:cs typeface="Consolas"/>
              </a:rPr>
              <a:t>+</a:t>
            </a:r>
            <a:r>
              <a:rPr sz="1300" b="1" dirty="0">
                <a:solidFill>
                  <a:srgbClr val="FFD166"/>
                </a:solidFill>
                <a:latin typeface="Consolas"/>
                <a:cs typeface="Consolas"/>
              </a:rPr>
              <a:t>	c1·r1·(pbest −</a:t>
            </a:r>
            <a:r>
              <a:rPr sz="1300" b="1" spc="-15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300" b="1" spc="-20" dirty="0">
                <a:solidFill>
                  <a:srgbClr val="FFD166"/>
                </a:solidFill>
                <a:latin typeface="Consolas"/>
                <a:cs typeface="Consolas"/>
              </a:rPr>
              <a:t>pos)</a:t>
            </a:r>
            <a:r>
              <a:rPr sz="13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300" b="1" spc="-50" dirty="0">
                <a:solidFill>
                  <a:srgbClr val="FFD166"/>
                </a:solidFill>
                <a:latin typeface="Consolas"/>
                <a:cs typeface="Consolas"/>
              </a:rPr>
              <a:t>+</a:t>
            </a:r>
            <a:r>
              <a:rPr sz="1300" b="1" dirty="0">
                <a:solidFill>
                  <a:srgbClr val="FFD166"/>
                </a:solidFill>
                <a:latin typeface="Consolas"/>
                <a:cs typeface="Consolas"/>
              </a:rPr>
              <a:t>	c2·r2·(gbest</a:t>
            </a:r>
            <a:r>
              <a:rPr sz="1300" b="1" spc="-15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300" b="1" dirty="0">
                <a:solidFill>
                  <a:srgbClr val="FFD166"/>
                </a:solidFill>
                <a:latin typeface="Consolas"/>
                <a:cs typeface="Consolas"/>
              </a:rPr>
              <a:t>−</a:t>
            </a:r>
            <a:r>
              <a:rPr sz="1300" b="1" spc="-5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300" b="1" spc="-20" dirty="0">
                <a:solidFill>
                  <a:srgbClr val="FFD166"/>
                </a:solidFill>
                <a:latin typeface="Consolas"/>
                <a:cs typeface="Consolas"/>
              </a:rPr>
              <a:t>pos)</a:t>
            </a:r>
            <a:endParaRPr sz="13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667" y="1075956"/>
            <a:ext cx="3096895" cy="3169920"/>
            <a:chOff x="10667" y="1075956"/>
            <a:chExt cx="3096895" cy="316992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7" y="1075956"/>
              <a:ext cx="3096768" cy="31699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73736" y="1504188"/>
              <a:ext cx="2834640" cy="2588260"/>
            </a:xfrm>
            <a:custGeom>
              <a:avLst/>
              <a:gdLst/>
              <a:ahLst/>
              <a:cxnLst/>
              <a:rect l="l" t="t" r="r" b="b"/>
              <a:pathLst>
                <a:path w="2834640" h="2588260">
                  <a:moveTo>
                    <a:pt x="0" y="2587752"/>
                  </a:moveTo>
                  <a:lnTo>
                    <a:pt x="2834640" y="2587752"/>
                  </a:lnTo>
                  <a:lnTo>
                    <a:pt x="2834640" y="0"/>
                  </a:lnTo>
                  <a:lnTo>
                    <a:pt x="0" y="0"/>
                  </a:lnTo>
                  <a:lnTo>
                    <a:pt x="0" y="2587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3736" y="1184147"/>
            <a:ext cx="2834640" cy="320040"/>
          </a:xfrm>
          <a:prstGeom prst="rect">
            <a:avLst/>
          </a:prstGeom>
          <a:solidFill>
            <a:srgbClr val="157E7E"/>
          </a:solidFill>
        </p:spPr>
        <p:txBody>
          <a:bodyPr vert="horz" wrap="square" lIns="0" tIns="49530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390"/>
              </a:spcBef>
            </a:pP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→</a:t>
            </a:r>
            <a:r>
              <a:rPr sz="1300" spc="4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Arial Black"/>
                <a:cs typeface="Arial Black"/>
              </a:rPr>
              <a:t>Inertia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3463" y="1595627"/>
            <a:ext cx="2615565" cy="439420"/>
          </a:xfrm>
          <a:prstGeom prst="rect">
            <a:avLst/>
          </a:prstGeom>
          <a:solidFill>
            <a:srgbClr val="EFF8F8"/>
          </a:solidFill>
          <a:ln w="12700">
            <a:solidFill>
              <a:srgbClr val="157E7E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118745">
              <a:lnSpc>
                <a:spcPct val="100000"/>
              </a:lnSpc>
              <a:tabLst>
                <a:tab pos="880110" algn="l"/>
              </a:tabLst>
            </a:pP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w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×</a:t>
            </a:r>
            <a:r>
              <a:rPr sz="900" b="1" spc="-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spc="-10" dirty="0">
                <a:solidFill>
                  <a:srgbClr val="157E7E"/>
                </a:solidFill>
                <a:latin typeface="Consolas"/>
                <a:cs typeface="Consolas"/>
              </a:rPr>
              <a:t>v_old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	(w</a:t>
            </a:r>
            <a:r>
              <a:rPr sz="900" b="1" spc="-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=</a:t>
            </a:r>
            <a:r>
              <a:rPr sz="900" b="1" spc="-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spc="-20" dirty="0">
                <a:solidFill>
                  <a:srgbClr val="157E7E"/>
                </a:solidFill>
                <a:latin typeface="Consolas"/>
                <a:cs typeface="Consolas"/>
              </a:rPr>
              <a:t>0.5)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218" y="2283038"/>
            <a:ext cx="2498343" cy="1179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2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Keeps</a:t>
            </a:r>
            <a:r>
              <a:rPr sz="100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particle</a:t>
            </a:r>
            <a:r>
              <a:rPr sz="100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moving</a:t>
            </a:r>
            <a:r>
              <a:rPr sz="1000" spc="-3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in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the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6B8989"/>
                </a:solidFill>
                <a:latin typeface="Arial MT"/>
                <a:cs typeface="Arial MT"/>
              </a:rPr>
              <a:t>same </a:t>
            </a:r>
            <a:r>
              <a:rPr sz="1000" dirty="0" smtClean="0">
                <a:solidFill>
                  <a:srgbClr val="6B8989"/>
                </a:solidFill>
                <a:latin typeface="Arial MT"/>
                <a:cs typeface="Arial MT"/>
              </a:rPr>
              <a:t>direction</a:t>
            </a:r>
            <a:r>
              <a:rPr lang="en-US"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.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Resistance to movement</a:t>
            </a:r>
            <a:r>
              <a:rPr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.</a:t>
            </a:r>
            <a:endParaRPr lang="en-US" sz="1000" spc="-10" dirty="0" smtClean="0">
              <a:solidFill>
                <a:srgbClr val="6B8989"/>
              </a:solidFill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90805" algn="l"/>
              </a:tabLst>
            </a:pP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Higher</a:t>
            </a:r>
            <a:r>
              <a:rPr lang="en-US"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inertia</a:t>
            </a:r>
            <a:r>
              <a:rPr lang="en-US"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(0.8–1)</a:t>
            </a:r>
            <a:r>
              <a:rPr lang="en-US" sz="1000" spc="-3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→</a:t>
            </a:r>
            <a:r>
              <a:rPr lang="en-US" sz="1000" spc="-3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more</a:t>
            </a:r>
            <a:r>
              <a:rPr lang="en-US" sz="1000" spc="-4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exploration</a:t>
            </a:r>
            <a:endParaRPr lang="en-US" sz="1000" dirty="0" smtClean="0">
              <a:latin typeface="Arial MT"/>
              <a:cs typeface="Arial MT"/>
            </a:endParaRPr>
          </a:p>
          <a:p>
            <a:pPr marL="184150" marR="579755" indent="-171450">
              <a:lnSpc>
                <a:spcPct val="125000"/>
              </a:lnSpc>
              <a:buFont typeface="Arial" panose="020B0604020202020204" pitchFamily="34" charset="0"/>
              <a:buChar char="•"/>
              <a:tabLst>
                <a:tab pos="90805" algn="l"/>
              </a:tabLst>
            </a:pP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Lower</a:t>
            </a:r>
            <a:r>
              <a:rPr lang="en-US" sz="1000" spc="-3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inertia</a:t>
            </a:r>
            <a:r>
              <a:rPr lang="en-US" sz="1000" spc="-3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(0.1–0.4)</a:t>
            </a:r>
            <a:r>
              <a:rPr lang="en-US" sz="1000" spc="-4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→</a:t>
            </a:r>
            <a:r>
              <a:rPr lang="en-US" sz="1000" spc="-4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more </a:t>
            </a:r>
            <a:r>
              <a:rPr lang="en-US"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exploitation</a:t>
            </a:r>
            <a:endParaRPr lang="en-US" sz="1000" dirty="0" smtClean="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90805" algn="l"/>
              </a:tabLst>
            </a:pP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Ours</a:t>
            </a:r>
            <a:r>
              <a:rPr lang="en-US" sz="1000" spc="-3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(0.5)</a:t>
            </a:r>
            <a:r>
              <a:rPr lang="en-US" sz="1000" spc="-3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balances</a:t>
            </a:r>
            <a:r>
              <a:rPr lang="en-US" sz="1000" spc="-3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both</a:t>
            </a:r>
            <a:endParaRPr lang="en-US" sz="1000" dirty="0" smtClean="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991611" y="1075956"/>
            <a:ext cx="3096895" cy="3169920"/>
            <a:chOff x="2991611" y="1075956"/>
            <a:chExt cx="3096895" cy="316992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1611" y="1075956"/>
              <a:ext cx="3096767" cy="316992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154679" y="1504188"/>
              <a:ext cx="2834640" cy="2588260"/>
            </a:xfrm>
            <a:custGeom>
              <a:avLst/>
              <a:gdLst/>
              <a:ahLst/>
              <a:cxnLst/>
              <a:rect l="l" t="t" r="r" b="b"/>
              <a:pathLst>
                <a:path w="2834640" h="2588260">
                  <a:moveTo>
                    <a:pt x="0" y="2587752"/>
                  </a:moveTo>
                  <a:lnTo>
                    <a:pt x="2834640" y="2587752"/>
                  </a:lnTo>
                  <a:lnTo>
                    <a:pt x="2834640" y="0"/>
                  </a:lnTo>
                  <a:lnTo>
                    <a:pt x="0" y="0"/>
                  </a:lnTo>
                  <a:lnTo>
                    <a:pt x="0" y="2587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54679" y="1184148"/>
              <a:ext cx="2834640" cy="320040"/>
            </a:xfrm>
            <a:custGeom>
              <a:avLst/>
              <a:gdLst/>
              <a:ahLst/>
              <a:cxnLst/>
              <a:rect l="l" t="t" r="r" b="b"/>
              <a:pathLst>
                <a:path w="2834640" h="320040">
                  <a:moveTo>
                    <a:pt x="2834640" y="0"/>
                  </a:moveTo>
                  <a:lnTo>
                    <a:pt x="0" y="0"/>
                  </a:lnTo>
                  <a:lnTo>
                    <a:pt x="0" y="320039"/>
                  </a:lnTo>
                  <a:lnTo>
                    <a:pt x="2834640" y="320039"/>
                  </a:lnTo>
                  <a:lnTo>
                    <a:pt x="2834640" y="0"/>
                  </a:lnTo>
                  <a:close/>
                </a:path>
              </a:pathLst>
            </a:custGeom>
            <a:solidFill>
              <a:srgbClr val="7A5E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38499" y="1190244"/>
              <a:ext cx="304038" cy="34671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154679" y="1223517"/>
            <a:ext cx="28346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132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Arial Black"/>
                <a:cs typeface="Arial Black"/>
              </a:rPr>
              <a:t>Cognitive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64408" y="1595627"/>
            <a:ext cx="2615565" cy="439420"/>
          </a:xfrm>
          <a:prstGeom prst="rect">
            <a:avLst/>
          </a:prstGeom>
          <a:solidFill>
            <a:srgbClr val="EFF8F8"/>
          </a:solidFill>
          <a:ln w="12700">
            <a:solidFill>
              <a:srgbClr val="7A5EA7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  <a:tabLst>
                <a:tab pos="1769110" algn="l"/>
              </a:tabLst>
            </a:pP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c1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×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r1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×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(pbest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−</a:t>
            </a:r>
            <a:r>
              <a:rPr sz="900" b="1" spc="-10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spc="-20" dirty="0">
                <a:solidFill>
                  <a:srgbClr val="157E7E"/>
                </a:solidFill>
                <a:latin typeface="Consolas"/>
                <a:cs typeface="Consolas"/>
              </a:rPr>
              <a:t>pos)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	(c1</a:t>
            </a:r>
            <a:r>
              <a:rPr sz="900" b="1" spc="-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=</a:t>
            </a:r>
            <a:r>
              <a:rPr sz="900" b="1" spc="-10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spc="-20" dirty="0">
                <a:solidFill>
                  <a:srgbClr val="157E7E"/>
                </a:solidFill>
                <a:latin typeface="Consolas"/>
                <a:cs typeface="Consolas"/>
              </a:rPr>
              <a:t>1.5)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74009" y="2283490"/>
            <a:ext cx="2406650" cy="1192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5080" indent="-171450">
              <a:lnSpc>
                <a:spcPct val="1250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Pulls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particle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back</a:t>
            </a:r>
            <a:r>
              <a:rPr sz="100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toward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its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own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personal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best.</a:t>
            </a:r>
            <a:r>
              <a:rPr sz="1000" spc="-3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 smtClean="0">
                <a:solidFill>
                  <a:srgbClr val="6B8989"/>
                </a:solidFill>
                <a:latin typeface="Arial MT"/>
                <a:cs typeface="Arial MT"/>
              </a:rPr>
              <a:t>Promotes</a:t>
            </a:r>
            <a:r>
              <a:rPr sz="1000" spc="-4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individual exploration</a:t>
            </a:r>
            <a:r>
              <a:rPr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.</a:t>
            </a:r>
            <a:endParaRPr lang="en-US" sz="1000" spc="-10" dirty="0" smtClean="0">
              <a:solidFill>
                <a:srgbClr val="6B8989"/>
              </a:solidFill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•"/>
              <a:tabLst>
                <a:tab pos="90805" algn="l"/>
              </a:tabLst>
            </a:pP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Cognitive</a:t>
            </a:r>
            <a:r>
              <a:rPr lang="en-US"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constant</a:t>
            </a:r>
            <a:r>
              <a:rPr lang="en-US" sz="1000" spc="-5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between</a:t>
            </a:r>
            <a:r>
              <a:rPr lang="en-US" sz="1000" spc="-3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0</a:t>
            </a:r>
            <a:r>
              <a:rPr lang="en-US" sz="1000" spc="-4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and</a:t>
            </a:r>
            <a:r>
              <a:rPr lang="en-US" sz="1000" spc="-3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spc="-50" dirty="0" smtClean="0">
                <a:solidFill>
                  <a:srgbClr val="6B8989"/>
                </a:solidFill>
                <a:latin typeface="Arial MT"/>
                <a:cs typeface="Arial MT"/>
              </a:rPr>
              <a:t>2</a:t>
            </a:r>
            <a:endParaRPr lang="en-US" sz="1000" dirty="0" smtClean="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  <a:tabLst>
                <a:tab pos="90805" algn="l"/>
              </a:tabLst>
            </a:pP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Higher c1</a:t>
            </a:r>
            <a:r>
              <a:rPr lang="en-US" sz="1000" spc="-2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=</a:t>
            </a:r>
            <a:r>
              <a:rPr lang="en-US" sz="1000" spc="-5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more</a:t>
            </a:r>
            <a:r>
              <a:rPr lang="en-US"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individual</a:t>
            </a:r>
            <a:r>
              <a:rPr lang="en-US" sz="100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lang="en-US"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exploration</a:t>
            </a:r>
            <a:endParaRPr lang="en-US" sz="1000" dirty="0" smtClean="0">
              <a:latin typeface="Arial MT"/>
              <a:cs typeface="Arial MT"/>
            </a:endParaRPr>
          </a:p>
          <a:p>
            <a:pPr marL="184150" marR="5080" indent="-171450">
              <a:lnSpc>
                <a:spcPct val="12509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sz="1000" dirty="0">
              <a:latin typeface="Arial MT"/>
              <a:cs typeface="Arial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972555" y="1075956"/>
            <a:ext cx="3096895" cy="3169920"/>
            <a:chOff x="5972555" y="1075956"/>
            <a:chExt cx="3096895" cy="316992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72555" y="1075956"/>
              <a:ext cx="3096768" cy="316992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135623" y="1504188"/>
              <a:ext cx="2834640" cy="2588260"/>
            </a:xfrm>
            <a:custGeom>
              <a:avLst/>
              <a:gdLst/>
              <a:ahLst/>
              <a:cxnLst/>
              <a:rect l="l" t="t" r="r" b="b"/>
              <a:pathLst>
                <a:path w="2834640" h="2588260">
                  <a:moveTo>
                    <a:pt x="0" y="2587752"/>
                  </a:moveTo>
                  <a:lnTo>
                    <a:pt x="2834639" y="2587752"/>
                  </a:lnTo>
                  <a:lnTo>
                    <a:pt x="2834639" y="0"/>
                  </a:lnTo>
                  <a:lnTo>
                    <a:pt x="0" y="0"/>
                  </a:lnTo>
                  <a:lnTo>
                    <a:pt x="0" y="25877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135623" y="1184147"/>
            <a:ext cx="2834640" cy="320040"/>
          </a:xfrm>
          <a:prstGeom prst="rect">
            <a:avLst/>
          </a:prstGeom>
          <a:solidFill>
            <a:srgbClr val="E63946"/>
          </a:solidFill>
        </p:spPr>
        <p:txBody>
          <a:bodyPr vert="horz" wrap="square" lIns="0" tIns="51435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405"/>
              </a:spcBef>
            </a:pPr>
            <a:r>
              <a:rPr sz="1300" dirty="0">
                <a:solidFill>
                  <a:srgbClr val="FFFFFF"/>
                </a:solidFill>
                <a:latin typeface="Segoe UI Symbol"/>
                <a:cs typeface="Segoe UI Symbol"/>
              </a:rPr>
              <a:t>★</a:t>
            </a:r>
            <a:r>
              <a:rPr sz="1300" spc="80" dirty="0">
                <a:solidFill>
                  <a:srgbClr val="FFFFFF"/>
                </a:solidFill>
                <a:latin typeface="Segoe UI Symbol"/>
                <a:cs typeface="Segoe UI Symbol"/>
              </a:rPr>
              <a:t>  </a:t>
            </a:r>
            <a:r>
              <a:rPr sz="1300" spc="-10" dirty="0">
                <a:solidFill>
                  <a:srgbClr val="FFFFFF"/>
                </a:solidFill>
                <a:latin typeface="Arial Black"/>
                <a:cs typeface="Arial Black"/>
              </a:rPr>
              <a:t>Social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45352" y="1595627"/>
            <a:ext cx="2615565" cy="439420"/>
          </a:xfrm>
          <a:prstGeom prst="rect">
            <a:avLst/>
          </a:prstGeom>
          <a:solidFill>
            <a:srgbClr val="EFF8F8"/>
          </a:solidFill>
          <a:ln w="12700">
            <a:solidFill>
              <a:srgbClr val="E63946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endParaRPr sz="90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  <a:tabLst>
                <a:tab pos="1769745" algn="l"/>
              </a:tabLst>
            </a:pP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c2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×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r2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×</a:t>
            </a:r>
            <a:r>
              <a:rPr sz="900" b="1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(gbest</a:t>
            </a:r>
            <a:r>
              <a:rPr sz="900" b="1" spc="-10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−</a:t>
            </a:r>
            <a:r>
              <a:rPr sz="900" b="1" spc="-10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spc="-20" dirty="0">
                <a:solidFill>
                  <a:srgbClr val="157E7E"/>
                </a:solidFill>
                <a:latin typeface="Consolas"/>
                <a:cs typeface="Consolas"/>
              </a:rPr>
              <a:t>pos)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	(c2</a:t>
            </a:r>
            <a:r>
              <a:rPr sz="900" b="1" spc="-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dirty="0">
                <a:solidFill>
                  <a:srgbClr val="157E7E"/>
                </a:solidFill>
                <a:latin typeface="Consolas"/>
                <a:cs typeface="Consolas"/>
              </a:rPr>
              <a:t>=</a:t>
            </a:r>
            <a:r>
              <a:rPr sz="900" b="1" spc="-10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900" b="1" spc="-20" dirty="0">
                <a:solidFill>
                  <a:srgbClr val="157E7E"/>
                </a:solidFill>
                <a:latin typeface="Consolas"/>
                <a:cs typeface="Consolas"/>
              </a:rPr>
              <a:t>1.5)</a:t>
            </a:r>
            <a:endParaRPr sz="900">
              <a:latin typeface="Consolas"/>
              <a:cs typeface="Consola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360730" y="2283038"/>
            <a:ext cx="2384425" cy="1282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marR="155575" indent="-171450">
              <a:lnSpc>
                <a:spcPct val="125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Pulls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particle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toward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the</a:t>
            </a:r>
            <a:r>
              <a:rPr sz="1000" spc="-5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swarm's</a:t>
            </a:r>
            <a:r>
              <a:rPr sz="100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global </a:t>
            </a:r>
            <a:r>
              <a:rPr sz="1000" dirty="0" smtClean="0">
                <a:solidFill>
                  <a:srgbClr val="6B8989"/>
                </a:solidFill>
                <a:latin typeface="Arial MT"/>
                <a:cs typeface="Arial MT"/>
              </a:rPr>
              <a:t>best</a:t>
            </a:r>
            <a:r>
              <a:rPr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Social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acceleration</a:t>
            </a:r>
            <a:r>
              <a:rPr sz="1000" spc="-3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is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determined</a:t>
            </a:r>
            <a:r>
              <a:rPr sz="1000" spc="-4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by</a:t>
            </a:r>
            <a:r>
              <a:rPr sz="100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using</a:t>
            </a:r>
            <a:r>
              <a:rPr lang="en-US" sz="1000" dirty="0">
                <a:latin typeface="Arial MT"/>
                <a:cs typeface="Arial MT"/>
              </a:rPr>
              <a:t> </a:t>
            </a:r>
            <a:r>
              <a:rPr sz="1000" dirty="0" smtClean="0">
                <a:solidFill>
                  <a:srgbClr val="6B8989"/>
                </a:solidFill>
                <a:latin typeface="Arial MT"/>
                <a:cs typeface="Arial MT"/>
              </a:rPr>
              <a:t>a</a:t>
            </a:r>
            <a:r>
              <a:rPr sz="1000" spc="-2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constant</a:t>
            </a:r>
            <a:r>
              <a:rPr sz="100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and</a:t>
            </a:r>
            <a:r>
              <a:rPr sz="100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scaling</a:t>
            </a:r>
            <a:r>
              <a:rPr sz="100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it</a:t>
            </a:r>
            <a:r>
              <a:rPr sz="1000" spc="-1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with</a:t>
            </a:r>
            <a:r>
              <a:rPr sz="1000" spc="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a</a:t>
            </a:r>
            <a:r>
              <a:rPr sz="1000" spc="-2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random</a:t>
            </a:r>
            <a:r>
              <a:rPr lang="en-US" sz="1000" dirty="0">
                <a:latin typeface="Arial MT"/>
                <a:cs typeface="Arial MT"/>
              </a:rPr>
              <a:t> </a:t>
            </a:r>
            <a:r>
              <a:rPr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number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  <a:p>
            <a:pPr marL="184150" marR="18034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sz="1000" dirty="0" smtClean="0">
                <a:solidFill>
                  <a:srgbClr val="6B8989"/>
                </a:solidFill>
                <a:latin typeface="Arial MT"/>
                <a:cs typeface="Arial MT"/>
              </a:rPr>
              <a:t>R2</a:t>
            </a:r>
            <a:r>
              <a:rPr sz="1000" spc="-40" dirty="0" smtClean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encourages</a:t>
            </a:r>
            <a:r>
              <a:rPr sz="1000" spc="-5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diversity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in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favoring</a:t>
            </a:r>
            <a:r>
              <a:rPr sz="1000" spc="-4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6B8989"/>
                </a:solidFill>
                <a:latin typeface="Arial MT"/>
                <a:cs typeface="Arial MT"/>
              </a:rPr>
              <a:t>the </a:t>
            </a:r>
            <a:r>
              <a:rPr sz="1000" dirty="0">
                <a:solidFill>
                  <a:srgbClr val="6B8989"/>
                </a:solidFill>
                <a:latin typeface="Arial MT"/>
                <a:cs typeface="Arial MT"/>
              </a:rPr>
              <a:t>social</a:t>
            </a:r>
            <a:r>
              <a:rPr sz="1000" spc="-30" dirty="0">
                <a:solidFill>
                  <a:srgbClr val="6B898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6B8989"/>
                </a:solidFill>
                <a:latin typeface="Arial MT"/>
                <a:cs typeface="Arial MT"/>
              </a:rPr>
              <a:t>factor</a:t>
            </a:r>
            <a:r>
              <a:rPr sz="1000" spc="-10" dirty="0" smtClean="0">
                <a:solidFill>
                  <a:srgbClr val="6B8989"/>
                </a:solidFill>
                <a:latin typeface="Arial MT"/>
                <a:cs typeface="Arial MT"/>
              </a:rPr>
              <a:t>.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6888" y="4183379"/>
            <a:ext cx="8686800" cy="402590"/>
          </a:xfrm>
          <a:prstGeom prst="rect">
            <a:avLst/>
          </a:prstGeom>
          <a:solidFill>
            <a:srgbClr val="157E7E"/>
          </a:solidFill>
        </p:spPr>
        <p:txBody>
          <a:bodyPr vert="horz" wrap="square" lIns="0" tIns="1016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00"/>
              </a:spcBef>
              <a:tabLst>
                <a:tab pos="1177290" algn="l"/>
                <a:tab pos="1430020" algn="l"/>
                <a:tab pos="2607945" algn="l"/>
                <a:tab pos="2860675" algn="l"/>
                <a:tab pos="4289425" algn="l"/>
              </a:tabLst>
            </a:pPr>
            <a:r>
              <a:rPr sz="1200" b="1" spc="-10" dirty="0">
                <a:solidFill>
                  <a:srgbClr val="FFD166"/>
                </a:solidFill>
                <a:latin typeface="Consolas"/>
                <a:cs typeface="Consolas"/>
              </a:rPr>
              <a:t>position_new</a:t>
            </a:r>
            <a:r>
              <a:rPr sz="12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200" b="1" spc="-50" dirty="0">
                <a:solidFill>
                  <a:srgbClr val="FFD166"/>
                </a:solidFill>
                <a:latin typeface="Consolas"/>
                <a:cs typeface="Consolas"/>
              </a:rPr>
              <a:t>=</a:t>
            </a:r>
            <a:r>
              <a:rPr sz="12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200" b="1" spc="-10" dirty="0">
                <a:solidFill>
                  <a:srgbClr val="FFD166"/>
                </a:solidFill>
                <a:latin typeface="Consolas"/>
                <a:cs typeface="Consolas"/>
              </a:rPr>
              <a:t>position_old</a:t>
            </a:r>
            <a:r>
              <a:rPr sz="12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200" b="1" spc="-50" dirty="0">
                <a:solidFill>
                  <a:srgbClr val="FFD166"/>
                </a:solidFill>
                <a:latin typeface="Consolas"/>
                <a:cs typeface="Consolas"/>
              </a:rPr>
              <a:t>+</a:t>
            </a:r>
            <a:r>
              <a:rPr sz="1200" b="1" dirty="0">
                <a:solidFill>
                  <a:srgbClr val="FFD166"/>
                </a:solidFill>
                <a:latin typeface="Consolas"/>
                <a:cs typeface="Consolas"/>
              </a:rPr>
              <a:t>	</a:t>
            </a:r>
            <a:r>
              <a:rPr sz="1200" b="1" spc="-10" dirty="0">
                <a:solidFill>
                  <a:srgbClr val="FFD166"/>
                </a:solidFill>
                <a:latin typeface="Consolas"/>
                <a:cs typeface="Consolas"/>
              </a:rPr>
              <a:t>velocity_new</a:t>
            </a:r>
            <a:r>
              <a:rPr sz="1200" b="1" dirty="0">
                <a:solidFill>
                  <a:srgbClr val="FFD166"/>
                </a:solidFill>
                <a:latin typeface="Consolas"/>
                <a:cs typeface="Consolas"/>
              </a:rPr>
              <a:t>	then</a:t>
            </a:r>
            <a:r>
              <a:rPr sz="1200" b="1" spc="-15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200" b="1" dirty="0">
                <a:solidFill>
                  <a:srgbClr val="FFD166"/>
                </a:solidFill>
                <a:latin typeface="Consolas"/>
                <a:cs typeface="Consolas"/>
              </a:rPr>
              <a:t>clip to</a:t>
            </a:r>
            <a:r>
              <a:rPr sz="1200" b="1" spc="-15" dirty="0">
                <a:solidFill>
                  <a:srgbClr val="FFD166"/>
                </a:solidFill>
                <a:latin typeface="Consolas"/>
                <a:cs typeface="Consolas"/>
              </a:rPr>
              <a:t> </a:t>
            </a:r>
            <a:r>
              <a:rPr sz="1200" b="1" dirty="0">
                <a:solidFill>
                  <a:srgbClr val="FFD166"/>
                </a:solidFill>
                <a:latin typeface="Consolas"/>
                <a:cs typeface="Consolas"/>
              </a:rPr>
              <a:t>[0.0, </a:t>
            </a:r>
            <a:r>
              <a:rPr sz="1200" b="1" spc="-20" dirty="0">
                <a:solidFill>
                  <a:srgbClr val="FFD166"/>
                </a:solidFill>
                <a:latin typeface="Consolas"/>
                <a:cs typeface="Consolas"/>
              </a:rPr>
              <a:t>1.0]</a:t>
            </a:r>
            <a:endParaRPr sz="1200" dirty="0">
              <a:latin typeface="Consolas"/>
              <a:cs typeface="Consola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60518"/>
            <a:ext cx="9144000" cy="982980"/>
            <a:chOff x="0" y="4160518"/>
            <a:chExt cx="9144000" cy="982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69228"/>
              <a:ext cx="731519" cy="9143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5280" y="4160518"/>
              <a:ext cx="914400" cy="914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7641" y="4306388"/>
              <a:ext cx="777240" cy="77723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</a:t>
            </a:r>
            <a:r>
              <a:rPr spc="-5" dirty="0"/>
              <a:t> </a:t>
            </a:r>
            <a:r>
              <a:rPr dirty="0"/>
              <a:t>4</a:t>
            </a:r>
            <a:r>
              <a:rPr spc="-35" dirty="0"/>
              <a:t> </a:t>
            </a:r>
            <a:r>
              <a:rPr dirty="0"/>
              <a:t>—</a:t>
            </a:r>
            <a:r>
              <a:rPr spc="-25" dirty="0"/>
              <a:t> </a:t>
            </a:r>
            <a:r>
              <a:rPr dirty="0"/>
              <a:t>pbest,</a:t>
            </a:r>
            <a:r>
              <a:rPr spc="-15" dirty="0"/>
              <a:t> </a:t>
            </a:r>
            <a:r>
              <a:rPr dirty="0"/>
              <a:t>gbest</a:t>
            </a:r>
            <a:r>
              <a:rPr spc="-35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Convergence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65531" y="522731"/>
            <a:ext cx="4468495" cy="1816735"/>
            <a:chOff x="65531" y="522731"/>
            <a:chExt cx="4468495" cy="181673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31" y="522731"/>
              <a:ext cx="4468368" cy="18166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28600" y="978408"/>
              <a:ext cx="4206240" cy="1207135"/>
            </a:xfrm>
            <a:custGeom>
              <a:avLst/>
              <a:gdLst/>
              <a:ahLst/>
              <a:cxnLst/>
              <a:rect l="l" t="t" r="r" b="b"/>
              <a:pathLst>
                <a:path w="4206240" h="1207135">
                  <a:moveTo>
                    <a:pt x="0" y="1207008"/>
                  </a:moveTo>
                  <a:lnTo>
                    <a:pt x="4206240" y="120700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28600" y="630936"/>
            <a:ext cx="4206240" cy="347980"/>
          </a:xfrm>
          <a:prstGeom prst="rect">
            <a:avLst/>
          </a:prstGeom>
          <a:solidFill>
            <a:srgbClr val="7A5EA7"/>
          </a:solidFill>
        </p:spPr>
        <p:txBody>
          <a:bodyPr vert="horz" wrap="square" lIns="0" tIns="63500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500"/>
              </a:spcBef>
            </a:pP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pbest</a:t>
            </a:r>
            <a:r>
              <a:rPr sz="130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300" spc="-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Personal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 Best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8912" y="1055759"/>
            <a:ext cx="3594735" cy="52070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10"/>
              </a:spcBef>
            </a:pP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Each</a:t>
            </a:r>
            <a:r>
              <a:rPr sz="1200" spc="-3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particle</a:t>
            </a:r>
            <a:r>
              <a:rPr sz="1200" spc="-3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remembers</a:t>
            </a:r>
            <a:r>
              <a:rPr sz="1200" spc="-4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the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best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position</a:t>
            </a:r>
            <a:r>
              <a:rPr sz="1200" spc="-4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it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has</a:t>
            </a:r>
            <a:r>
              <a:rPr sz="1200" spc="-3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ever</a:t>
            </a:r>
            <a:endParaRPr sz="1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personally</a:t>
            </a:r>
            <a:r>
              <a:rPr sz="1200" spc="-6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visited.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8912" y="1861566"/>
            <a:ext cx="31343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If new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fitness</a:t>
            </a:r>
            <a:r>
              <a:rPr sz="1200" spc="-4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lang="en-US" sz="1200" dirty="0" smtClean="0">
                <a:solidFill>
                  <a:srgbClr val="1A2D35"/>
                </a:solidFill>
                <a:latin typeface="Arial MT"/>
                <a:cs typeface="Arial MT"/>
              </a:rPr>
              <a:t>&lt;</a:t>
            </a:r>
            <a:r>
              <a:rPr sz="1200" spc="5" dirty="0" smtClean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pbest</a:t>
            </a:r>
            <a:r>
              <a:rPr sz="1200" spc="-2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fitness</a:t>
            </a:r>
            <a:r>
              <a:rPr sz="1200" spc="32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→</a:t>
            </a:r>
            <a:r>
              <a:rPr sz="1200" spc="33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update</a:t>
            </a:r>
            <a:r>
              <a:rPr sz="1200" spc="-4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pbest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46091" y="522732"/>
            <a:ext cx="4468495" cy="1926589"/>
            <a:chOff x="4546091" y="522732"/>
            <a:chExt cx="4468495" cy="1926589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46091" y="522732"/>
              <a:ext cx="4468367" cy="19263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09159" y="1014984"/>
              <a:ext cx="4206240" cy="1280160"/>
            </a:xfrm>
            <a:custGeom>
              <a:avLst/>
              <a:gdLst/>
              <a:ahLst/>
              <a:cxnLst/>
              <a:rect l="l" t="t" r="r" b="b"/>
              <a:pathLst>
                <a:path w="4206240" h="1280160">
                  <a:moveTo>
                    <a:pt x="0" y="1280159"/>
                  </a:moveTo>
                  <a:lnTo>
                    <a:pt x="4206240" y="1280159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80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09159" y="630936"/>
            <a:ext cx="4206240" cy="384175"/>
          </a:xfrm>
          <a:prstGeom prst="rect">
            <a:avLst/>
          </a:prstGeom>
          <a:solidFill>
            <a:srgbClr val="E63946"/>
          </a:solidFill>
        </p:spPr>
        <p:txBody>
          <a:bodyPr vert="horz" wrap="square" lIns="0" tIns="81915" rIns="0" bIns="0" rtlCol="0">
            <a:spAutoFit/>
          </a:bodyPr>
          <a:lstStyle/>
          <a:p>
            <a:pPr marL="210820">
              <a:lnSpc>
                <a:spcPct val="100000"/>
              </a:lnSpc>
              <a:spcBef>
                <a:spcPts val="645"/>
              </a:spcBef>
            </a:pP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gbest</a:t>
            </a:r>
            <a:r>
              <a:rPr sz="1300" spc="-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300" spc="-3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Global</a:t>
            </a:r>
            <a:r>
              <a:rPr sz="1300" spc="-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Best</a:t>
            </a:r>
            <a:endParaRPr sz="1300">
              <a:latin typeface="Arial Black"/>
              <a:cs typeface="Arial Black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0820" marR="520700">
              <a:lnSpc>
                <a:spcPct val="1181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single</a:t>
            </a:r>
            <a:r>
              <a:rPr spc="-40" dirty="0"/>
              <a:t> </a:t>
            </a:r>
            <a:r>
              <a:rPr dirty="0"/>
              <a:t>best</a:t>
            </a:r>
            <a:r>
              <a:rPr spc="-25" dirty="0"/>
              <a:t> </a:t>
            </a:r>
            <a:r>
              <a:rPr dirty="0"/>
              <a:t>position</a:t>
            </a:r>
            <a:r>
              <a:rPr spc="-35" dirty="0"/>
              <a:t> </a:t>
            </a:r>
            <a:r>
              <a:rPr dirty="0"/>
              <a:t>found</a:t>
            </a:r>
            <a:r>
              <a:rPr spc="-35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ANY</a:t>
            </a:r>
            <a:r>
              <a:rPr spc="-45" dirty="0"/>
              <a:t> </a:t>
            </a:r>
            <a:r>
              <a:rPr dirty="0"/>
              <a:t>particle</a:t>
            </a:r>
            <a:r>
              <a:rPr spc="-2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entire </a:t>
            </a:r>
            <a:r>
              <a:rPr dirty="0"/>
              <a:t>swarm</a:t>
            </a:r>
            <a:r>
              <a:rPr spc="-30" dirty="0"/>
              <a:t> </a:t>
            </a:r>
            <a:r>
              <a:rPr spc="-10" dirty="0"/>
              <a:t>ever.</a:t>
            </a: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pc="-10" dirty="0"/>
          </a:p>
          <a:p>
            <a:pPr marL="210820" marR="587375">
              <a:lnSpc>
                <a:spcPct val="118300"/>
              </a:lnSpc>
            </a:pPr>
            <a:r>
              <a:rPr dirty="0"/>
              <a:t>If</a:t>
            </a:r>
            <a:r>
              <a:rPr spc="-30" dirty="0"/>
              <a:t> </a:t>
            </a:r>
            <a:r>
              <a:rPr dirty="0"/>
              <a:t>any</a:t>
            </a:r>
            <a:r>
              <a:rPr spc="-25" dirty="0"/>
              <a:t> </a:t>
            </a:r>
            <a:r>
              <a:rPr dirty="0"/>
              <a:t>particle</a:t>
            </a:r>
            <a:r>
              <a:rPr spc="-15" dirty="0"/>
              <a:t> </a:t>
            </a:r>
            <a:r>
              <a:rPr dirty="0"/>
              <a:t>improves</a:t>
            </a:r>
            <a:r>
              <a:rPr spc="-20" dirty="0"/>
              <a:t> </a:t>
            </a:r>
            <a:r>
              <a:rPr dirty="0"/>
              <a:t>→</a:t>
            </a:r>
            <a:r>
              <a:rPr spc="-30" dirty="0"/>
              <a:t> </a:t>
            </a:r>
            <a:r>
              <a:rPr dirty="0"/>
              <a:t>gbest</a:t>
            </a:r>
            <a:r>
              <a:rPr spc="-25" dirty="0"/>
              <a:t> </a:t>
            </a:r>
            <a:r>
              <a:rPr dirty="0"/>
              <a:t>updates</a:t>
            </a:r>
            <a:r>
              <a:rPr spc="-25" dirty="0"/>
              <a:t> </a:t>
            </a:r>
            <a:r>
              <a:rPr dirty="0"/>
              <a:t>→</a:t>
            </a:r>
            <a:r>
              <a:rPr spc="-15" dirty="0"/>
              <a:t> </a:t>
            </a:r>
            <a:r>
              <a:rPr dirty="0"/>
              <a:t>ALL</a:t>
            </a:r>
            <a:r>
              <a:rPr spc="-25" dirty="0"/>
              <a:t> </a:t>
            </a:r>
            <a:r>
              <a:rPr spc="-10" dirty="0"/>
              <a:t>particles </a:t>
            </a:r>
            <a:r>
              <a:rPr dirty="0"/>
              <a:t>immediately</a:t>
            </a:r>
            <a:r>
              <a:rPr spc="-70" dirty="0"/>
              <a:t> </a:t>
            </a:r>
            <a:r>
              <a:rPr dirty="0"/>
              <a:t>pull</a:t>
            </a:r>
            <a:r>
              <a:rPr spc="-50" dirty="0"/>
              <a:t> </a:t>
            </a:r>
            <a:r>
              <a:rPr dirty="0"/>
              <a:t>toward</a:t>
            </a:r>
            <a:r>
              <a:rPr spc="-30" dirty="0"/>
              <a:t> </a:t>
            </a:r>
            <a:r>
              <a:rPr spc="-25" dirty="0"/>
              <a:t>it.</a:t>
            </a:r>
          </a:p>
          <a:p>
            <a:pPr marL="210820">
              <a:lnSpc>
                <a:spcPct val="100000"/>
              </a:lnSpc>
              <a:spcBef>
                <a:spcPts val="229"/>
              </a:spcBef>
            </a:pPr>
            <a:r>
              <a:rPr dirty="0"/>
              <a:t>This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"swarm</a:t>
            </a:r>
            <a:r>
              <a:rPr spc="-30" dirty="0"/>
              <a:t> </a:t>
            </a:r>
            <a:r>
              <a:rPr dirty="0"/>
              <a:t>intelligence"</a:t>
            </a:r>
            <a:r>
              <a:rPr spc="-20" dirty="0"/>
              <a:t> </a:t>
            </a:r>
            <a:r>
              <a:rPr dirty="0"/>
              <a:t>—</a:t>
            </a:r>
            <a:r>
              <a:rPr spc="-20" dirty="0"/>
              <a:t> </a:t>
            </a:r>
            <a:r>
              <a:rPr dirty="0"/>
              <a:t>collective</a:t>
            </a:r>
            <a:r>
              <a:rPr spc="-35" dirty="0"/>
              <a:t> </a:t>
            </a:r>
            <a:r>
              <a:rPr spc="-10" dirty="0"/>
              <a:t>knowledge</a:t>
            </a:r>
            <a:r>
              <a:rPr spc="-30" dirty="0"/>
              <a:t> </a:t>
            </a:r>
            <a:r>
              <a:rPr spc="-10" dirty="0"/>
              <a:t>sharing.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111252" y="2250948"/>
            <a:ext cx="8949055" cy="2148840"/>
            <a:chOff x="111252" y="2250948"/>
            <a:chExt cx="8949055" cy="214884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252" y="2250948"/>
              <a:ext cx="8948928" cy="214884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74320" y="2706624"/>
              <a:ext cx="8686800" cy="1540510"/>
            </a:xfrm>
            <a:custGeom>
              <a:avLst/>
              <a:gdLst/>
              <a:ahLst/>
              <a:cxnLst/>
              <a:rect l="l" t="t" r="r" b="b"/>
              <a:pathLst>
                <a:path w="8686800" h="1540510">
                  <a:moveTo>
                    <a:pt x="0" y="1539887"/>
                  </a:moveTo>
                  <a:lnTo>
                    <a:pt x="8686800" y="1539887"/>
                  </a:lnTo>
                  <a:lnTo>
                    <a:pt x="8686800" y="0"/>
                  </a:lnTo>
                  <a:lnTo>
                    <a:pt x="0" y="0"/>
                  </a:lnTo>
                  <a:lnTo>
                    <a:pt x="0" y="1539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74320" y="2359151"/>
            <a:ext cx="8686800" cy="347980"/>
          </a:xfrm>
          <a:prstGeom prst="rect">
            <a:avLst/>
          </a:prstGeom>
          <a:solidFill>
            <a:srgbClr val="157E7E"/>
          </a:solidFill>
        </p:spPr>
        <p:txBody>
          <a:bodyPr vert="horz" wrap="square" lIns="0" tIns="64135" rIns="0" bIns="0" rtlCol="0">
            <a:spAutoFit/>
          </a:bodyPr>
          <a:lstStyle/>
          <a:p>
            <a:pPr marL="210185">
              <a:lnSpc>
                <a:spcPct val="100000"/>
              </a:lnSpc>
              <a:spcBef>
                <a:spcPts val="505"/>
              </a:spcBef>
            </a:pP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Convergence</a:t>
            </a:r>
            <a:r>
              <a:rPr sz="130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—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When</a:t>
            </a:r>
            <a:r>
              <a:rPr sz="1300" spc="-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Does</a:t>
            </a:r>
            <a:r>
              <a:rPr sz="1300" spc="-2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300" dirty="0">
                <a:solidFill>
                  <a:srgbClr val="FFFFFF"/>
                </a:solidFill>
                <a:latin typeface="Arial Black"/>
                <a:cs typeface="Arial Black"/>
              </a:rPr>
              <a:t>PSO</a:t>
            </a:r>
            <a:r>
              <a:rPr sz="1300" spc="-10" dirty="0">
                <a:solidFill>
                  <a:srgbClr val="FFFFFF"/>
                </a:solidFill>
                <a:latin typeface="Arial Black"/>
                <a:cs typeface="Arial Black"/>
              </a:rPr>
              <a:t> Stop?</a:t>
            </a:r>
            <a:endParaRPr sz="1300">
              <a:latin typeface="Arial Black"/>
              <a:cs typeface="Arial Black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0016" y="2776601"/>
            <a:ext cx="8455660" cy="390525"/>
            <a:chOff x="390016" y="2776601"/>
            <a:chExt cx="8455660" cy="390525"/>
          </a:xfrm>
        </p:grpSpPr>
        <p:sp>
          <p:nvSpPr>
            <p:cNvPr id="23" name="object 23"/>
            <p:cNvSpPr/>
            <p:nvPr/>
          </p:nvSpPr>
          <p:spPr>
            <a:xfrm>
              <a:off x="393191" y="2779776"/>
              <a:ext cx="8449310" cy="384175"/>
            </a:xfrm>
            <a:custGeom>
              <a:avLst/>
              <a:gdLst/>
              <a:ahLst/>
              <a:cxnLst/>
              <a:rect l="l" t="t" r="r" b="b"/>
              <a:pathLst>
                <a:path w="8449310" h="384175">
                  <a:moveTo>
                    <a:pt x="8449056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8449056" y="384048"/>
                  </a:lnTo>
                  <a:lnTo>
                    <a:pt x="8449056" y="0"/>
                  </a:lnTo>
                  <a:close/>
                </a:path>
              </a:pathLst>
            </a:custGeom>
            <a:solidFill>
              <a:srgbClr val="EA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3191" y="2779776"/>
              <a:ext cx="8449310" cy="384175"/>
            </a:xfrm>
            <a:custGeom>
              <a:avLst/>
              <a:gdLst/>
              <a:ahLst/>
              <a:cxnLst/>
              <a:rect l="l" t="t" r="r" b="b"/>
              <a:pathLst>
                <a:path w="8449310" h="384175">
                  <a:moveTo>
                    <a:pt x="0" y="384048"/>
                  </a:moveTo>
                  <a:lnTo>
                    <a:pt x="8449056" y="384048"/>
                  </a:lnTo>
                  <a:lnTo>
                    <a:pt x="8449056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6349">
              <a:solidFill>
                <a:srgbClr val="15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76072" y="2801492"/>
            <a:ext cx="7700009" cy="3282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5080">
              <a:lnSpc>
                <a:spcPts val="1190"/>
              </a:lnSpc>
              <a:spcBef>
                <a:spcPts val="140"/>
              </a:spcBef>
              <a:tabLst>
                <a:tab pos="1188085" algn="l"/>
                <a:tab pos="1397000" algn="l"/>
                <a:tab pos="2864485" algn="l"/>
                <a:tab pos="6069965" algn="l"/>
              </a:tabLst>
            </a:pP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if</a:t>
            </a:r>
            <a:r>
              <a:rPr sz="1000" spc="-10" dirty="0">
                <a:solidFill>
                  <a:srgbClr val="157E7E"/>
                </a:solidFill>
                <a:latin typeface="Consolas"/>
                <a:cs typeface="Consolas"/>
              </a:rPr>
              <a:t> particle.fit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	</a:t>
            </a:r>
            <a:r>
              <a:rPr sz="1000" spc="-50" dirty="0">
                <a:solidFill>
                  <a:srgbClr val="157E7E"/>
                </a:solidFill>
                <a:latin typeface="Consolas"/>
                <a:cs typeface="Consolas"/>
              </a:rPr>
              <a:t>&lt;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	gbest_fit</a:t>
            </a:r>
            <a:r>
              <a:rPr sz="1000" spc="-3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+</a:t>
            </a:r>
            <a:r>
              <a:rPr sz="1000" spc="-1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157E7E"/>
                </a:solidFill>
                <a:latin typeface="Consolas"/>
                <a:cs typeface="Consolas"/>
              </a:rPr>
              <a:t>1e-</a:t>
            </a:r>
            <a:r>
              <a:rPr sz="1000" spc="-25" dirty="0">
                <a:solidFill>
                  <a:srgbClr val="157E7E"/>
                </a:solidFill>
                <a:latin typeface="Consolas"/>
                <a:cs typeface="Consolas"/>
              </a:rPr>
              <a:t>7: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	meaningful</a:t>
            </a:r>
            <a:r>
              <a:rPr sz="1000" spc="-5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improvement</a:t>
            </a:r>
            <a:r>
              <a:rPr sz="1000" spc="-5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→</a:t>
            </a:r>
            <a:r>
              <a:rPr sz="1000" spc="-50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reset</a:t>
            </a:r>
            <a:r>
              <a:rPr sz="1000" spc="-4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stall</a:t>
            </a:r>
            <a:r>
              <a:rPr sz="1000" spc="-4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157E7E"/>
                </a:solidFill>
                <a:latin typeface="Consolas"/>
                <a:cs typeface="Consolas"/>
              </a:rPr>
              <a:t>counter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	(+</a:t>
            </a:r>
            <a:r>
              <a:rPr sz="1000" spc="-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1e-7</a:t>
            </a:r>
            <a:r>
              <a:rPr sz="1000" spc="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to</a:t>
            </a:r>
            <a:r>
              <a:rPr sz="1000" spc="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ignore</a:t>
            </a:r>
            <a:r>
              <a:rPr sz="1000" spc="5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157E7E"/>
                </a:solidFill>
                <a:latin typeface="Consolas"/>
                <a:cs typeface="Consolas"/>
              </a:rPr>
              <a:t>small </a:t>
            </a:r>
            <a:r>
              <a:rPr sz="1000" dirty="0">
                <a:solidFill>
                  <a:srgbClr val="157E7E"/>
                </a:solidFill>
                <a:latin typeface="Consolas"/>
                <a:cs typeface="Consolas"/>
              </a:rPr>
              <a:t>fractional</a:t>
            </a:r>
            <a:r>
              <a:rPr sz="1000" spc="-60" dirty="0">
                <a:solidFill>
                  <a:srgbClr val="157E7E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157E7E"/>
                </a:solidFill>
                <a:latin typeface="Consolas"/>
                <a:cs typeface="Consolas"/>
              </a:rPr>
              <a:t>changes)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3191" y="3236976"/>
            <a:ext cx="8449310" cy="384175"/>
          </a:xfrm>
          <a:prstGeom prst="rect">
            <a:avLst/>
          </a:prstGeom>
          <a:solidFill>
            <a:srgbClr val="FFEFEF"/>
          </a:solidFill>
          <a:ln w="6350">
            <a:solidFill>
              <a:srgbClr val="E63946"/>
            </a:solidFill>
          </a:ln>
        </p:spPr>
        <p:txBody>
          <a:bodyPr vert="horz" wrap="square" lIns="0" tIns="10858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855"/>
              </a:spcBef>
              <a:tabLst>
                <a:tab pos="1301115" algn="l"/>
                <a:tab pos="1580515" algn="l"/>
                <a:tab pos="2069464" algn="l"/>
                <a:tab pos="5282565" algn="l"/>
                <a:tab pos="5491480" algn="l"/>
              </a:tabLst>
            </a:pP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if</a:t>
            </a:r>
            <a:r>
              <a:rPr sz="1000" spc="-10" dirty="0">
                <a:solidFill>
                  <a:srgbClr val="E63946"/>
                </a:solidFill>
                <a:latin typeface="Consolas"/>
                <a:cs typeface="Consolas"/>
              </a:rPr>
              <a:t> stall_count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	</a:t>
            </a:r>
            <a:r>
              <a:rPr sz="1000" spc="-25" dirty="0">
                <a:solidFill>
                  <a:srgbClr val="E63946"/>
                </a:solidFill>
                <a:latin typeface="Consolas"/>
                <a:cs typeface="Consolas"/>
              </a:rPr>
              <a:t>&gt;=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	</a:t>
            </a:r>
            <a:r>
              <a:rPr sz="1000" spc="-25" dirty="0">
                <a:solidFill>
                  <a:srgbClr val="E63946"/>
                </a:solidFill>
                <a:latin typeface="Consolas"/>
                <a:cs typeface="Consolas"/>
              </a:rPr>
              <a:t>40: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	no</a:t>
            </a:r>
            <a:r>
              <a:rPr sz="1000" spc="-50" dirty="0">
                <a:solidFill>
                  <a:srgbClr val="E63946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improvement</a:t>
            </a:r>
            <a:r>
              <a:rPr sz="1000" spc="-50" dirty="0">
                <a:solidFill>
                  <a:srgbClr val="E63946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for</a:t>
            </a:r>
            <a:r>
              <a:rPr sz="1000" spc="-35" dirty="0">
                <a:solidFill>
                  <a:srgbClr val="E63946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40</a:t>
            </a:r>
            <a:r>
              <a:rPr sz="1000" spc="-35" dirty="0">
                <a:solidFill>
                  <a:srgbClr val="E63946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consecutive</a:t>
            </a:r>
            <a:r>
              <a:rPr sz="1000" spc="-40" dirty="0">
                <a:solidFill>
                  <a:srgbClr val="E63946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E63946"/>
                </a:solidFill>
                <a:latin typeface="Consolas"/>
                <a:cs typeface="Consolas"/>
              </a:rPr>
              <a:t>iterations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	</a:t>
            </a:r>
            <a:r>
              <a:rPr sz="1000" spc="-50" dirty="0">
                <a:solidFill>
                  <a:srgbClr val="E63946"/>
                </a:solidFill>
                <a:latin typeface="Consolas"/>
                <a:cs typeface="Consolas"/>
              </a:rPr>
              <a:t>→</a:t>
            </a:r>
            <a:r>
              <a:rPr sz="1000" dirty="0">
                <a:solidFill>
                  <a:srgbClr val="E63946"/>
                </a:solidFill>
                <a:latin typeface="Consolas"/>
                <a:cs typeface="Consolas"/>
              </a:rPr>
              <a:t>	</a:t>
            </a:r>
            <a:r>
              <a:rPr sz="1000" spc="-20" dirty="0">
                <a:solidFill>
                  <a:srgbClr val="E63946"/>
                </a:solidFill>
                <a:latin typeface="Consolas"/>
                <a:cs typeface="Consolas"/>
              </a:rPr>
              <a:t>STOP</a:t>
            </a:r>
            <a:endParaRPr sz="1000" dirty="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3191" y="3730752"/>
            <a:ext cx="4069079" cy="479940"/>
          </a:xfrm>
          <a:prstGeom prst="rect">
            <a:avLst/>
          </a:prstGeom>
          <a:solidFill>
            <a:srgbClr val="FFF5F5"/>
          </a:solidFill>
          <a:ln w="12700">
            <a:solidFill>
              <a:srgbClr val="E63946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00660" marR="478790">
              <a:lnSpc>
                <a:spcPts val="1180"/>
              </a:lnSpc>
              <a:spcBef>
                <a:spcPts val="420"/>
              </a:spcBef>
            </a:pPr>
            <a:r>
              <a:rPr sz="1000" b="1" dirty="0">
                <a:solidFill>
                  <a:srgbClr val="E63946"/>
                </a:solidFill>
                <a:latin typeface="Arial"/>
                <a:cs typeface="Arial"/>
              </a:rPr>
              <a:t>Iteration</a:t>
            </a:r>
            <a:r>
              <a:rPr sz="1000" b="1" spc="235" dirty="0">
                <a:solidFill>
                  <a:srgbClr val="E6394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E63946"/>
                </a:solidFill>
                <a:latin typeface="Arial"/>
                <a:cs typeface="Arial"/>
              </a:rPr>
              <a:t>0</a:t>
            </a:r>
            <a:r>
              <a:rPr sz="1000" b="1" spc="229" dirty="0">
                <a:solidFill>
                  <a:srgbClr val="E6394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E63946"/>
                </a:solidFill>
                <a:latin typeface="Arial"/>
                <a:cs typeface="Arial"/>
              </a:rPr>
              <a:t>|</a:t>
            </a:r>
            <a:r>
              <a:rPr sz="1000" b="1" spc="225" dirty="0">
                <a:solidFill>
                  <a:srgbClr val="E63946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2D35"/>
                </a:solidFill>
                <a:latin typeface="Arial"/>
                <a:cs typeface="Arial"/>
              </a:rPr>
              <a:t>fitness:</a:t>
            </a:r>
            <a:r>
              <a:rPr sz="1000" b="1" spc="-1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lang="en-US" sz="1000" b="1" dirty="0" smtClean="0">
                <a:solidFill>
                  <a:srgbClr val="1A2D35"/>
                </a:solidFill>
                <a:latin typeface="Arial"/>
                <a:cs typeface="Arial"/>
              </a:rPr>
              <a:t>0.384923 </a:t>
            </a:r>
            <a:r>
              <a:rPr sz="1000" i="1" dirty="0" smtClean="0">
                <a:solidFill>
                  <a:srgbClr val="6B8989"/>
                </a:solidFill>
                <a:latin typeface="Arial"/>
                <a:cs typeface="Arial"/>
              </a:rPr>
              <a:t>←</a:t>
            </a:r>
            <a:r>
              <a:rPr sz="1000" i="1" spc="-25" dirty="0" smtClean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B8989"/>
                </a:solidFill>
                <a:latin typeface="Arial"/>
                <a:cs typeface="Arial"/>
              </a:rPr>
              <a:t>starts</a:t>
            </a:r>
            <a:r>
              <a:rPr sz="1000" i="1" spc="-2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000" i="1" dirty="0" smtClean="0">
                <a:solidFill>
                  <a:srgbClr val="6B8989"/>
                </a:solidFill>
                <a:latin typeface="Arial"/>
                <a:cs typeface="Arial"/>
              </a:rPr>
              <a:t>bad</a:t>
            </a:r>
            <a:r>
              <a:rPr sz="1000" i="1" spc="-20" dirty="0" smtClean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000" i="1" dirty="0" smtClean="0">
                <a:solidFill>
                  <a:srgbClr val="6B8989"/>
                </a:solidFill>
                <a:latin typeface="Arial"/>
                <a:cs typeface="Arial"/>
              </a:rPr>
              <a:t>(particles</a:t>
            </a:r>
            <a:r>
              <a:rPr sz="1000" i="1" spc="-20" dirty="0" smtClean="0">
                <a:solidFill>
                  <a:srgbClr val="6B8989"/>
                </a:solidFill>
                <a:latin typeface="Arial"/>
                <a:cs typeface="Arial"/>
              </a:rPr>
              <a:t> near </a:t>
            </a:r>
            <a:r>
              <a:rPr sz="1000" i="1" spc="-10" dirty="0" smtClean="0">
                <a:solidFill>
                  <a:srgbClr val="6B8989"/>
                </a:solidFill>
                <a:latin typeface="Arial"/>
                <a:cs typeface="Arial"/>
              </a:rPr>
              <a:t>extremes)</a:t>
            </a:r>
            <a:r>
              <a:rPr lang="en-US" sz="1000" i="1" spc="-10" dirty="0" smtClean="0">
                <a:solidFill>
                  <a:srgbClr val="6B8989"/>
                </a:solidFill>
                <a:latin typeface="Arial"/>
                <a:cs typeface="Arial"/>
              </a:rPr>
              <a:t/>
            </a:r>
            <a:br>
              <a:rPr lang="en-US" sz="1000" i="1" spc="-10" dirty="0" smtClean="0">
                <a:solidFill>
                  <a:srgbClr val="6B8989"/>
                </a:solidFill>
                <a:latin typeface="Arial"/>
                <a:cs typeface="Arial"/>
              </a:rPr>
            </a:br>
            <a:r>
              <a:rPr lang="en-US" sz="100" i="1" spc="-10" dirty="0" err="1" smtClean="0">
                <a:solidFill>
                  <a:srgbClr val="6B8989"/>
                </a:solidFill>
                <a:latin typeface="Arial"/>
                <a:cs typeface="Arial"/>
              </a:rPr>
              <a:t>sd</a:t>
            </a:r>
            <a:endParaRPr sz="1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90871" y="3730752"/>
            <a:ext cx="3919729" cy="354584"/>
          </a:xfrm>
          <a:prstGeom prst="rect">
            <a:avLst/>
          </a:prstGeom>
          <a:solidFill>
            <a:srgbClr val="EAF8F8"/>
          </a:solidFill>
          <a:ln w="12700">
            <a:solidFill>
              <a:srgbClr val="157E7E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201295">
              <a:lnSpc>
                <a:spcPts val="1190"/>
              </a:lnSpc>
              <a:spcBef>
                <a:spcPts val="365"/>
              </a:spcBef>
            </a:pPr>
            <a:r>
              <a:rPr sz="1000" b="1" dirty="0">
                <a:solidFill>
                  <a:srgbClr val="157E7E"/>
                </a:solidFill>
                <a:latin typeface="Arial"/>
                <a:cs typeface="Arial"/>
              </a:rPr>
              <a:t>Iteration</a:t>
            </a:r>
            <a:r>
              <a:rPr sz="1000" b="1" spc="-25" dirty="0">
                <a:solidFill>
                  <a:srgbClr val="157E7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57E7E"/>
                </a:solidFill>
                <a:latin typeface="Arial"/>
                <a:cs typeface="Arial"/>
              </a:rPr>
              <a:t>20</a:t>
            </a:r>
            <a:r>
              <a:rPr sz="1000" b="1" spc="225" dirty="0">
                <a:solidFill>
                  <a:srgbClr val="157E7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57E7E"/>
                </a:solidFill>
                <a:latin typeface="Arial"/>
                <a:cs typeface="Arial"/>
              </a:rPr>
              <a:t>|</a:t>
            </a:r>
            <a:r>
              <a:rPr sz="1000" b="1" spc="220" dirty="0">
                <a:solidFill>
                  <a:srgbClr val="157E7E"/>
                </a:solidFill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1A2D35"/>
                </a:solidFill>
                <a:latin typeface="Arial"/>
                <a:cs typeface="Arial"/>
              </a:rPr>
              <a:t>fitness</a:t>
            </a:r>
            <a:r>
              <a:rPr sz="1000" b="1">
                <a:solidFill>
                  <a:srgbClr val="1A2D35"/>
                </a:solidFill>
                <a:latin typeface="Arial"/>
                <a:cs typeface="Arial"/>
              </a:rPr>
              <a:t>:</a:t>
            </a:r>
            <a:r>
              <a:rPr sz="1000" b="1" spc="-25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000" b="1" smtClean="0">
                <a:solidFill>
                  <a:srgbClr val="1A2D35"/>
                </a:solidFill>
                <a:latin typeface="Arial"/>
                <a:cs typeface="Arial"/>
              </a:rPr>
              <a:t>0.3</a:t>
            </a:r>
            <a:r>
              <a:rPr lang="en-US" sz="1000" b="1" dirty="0" smtClean="0">
                <a:solidFill>
                  <a:srgbClr val="1A2D35"/>
                </a:solidFill>
                <a:latin typeface="Arial"/>
                <a:cs typeface="Arial"/>
              </a:rPr>
              <a:t>31232</a:t>
            </a:r>
            <a:r>
              <a:rPr sz="1000" b="1" spc="229" dirty="0" smtClean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B8989"/>
                </a:solidFill>
                <a:latin typeface="Arial"/>
                <a:cs typeface="Arial"/>
              </a:rPr>
              <a:t>←</a:t>
            </a:r>
            <a:r>
              <a:rPr sz="1000" i="1" spc="-25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6B8989"/>
                </a:solidFill>
                <a:latin typeface="Arial"/>
                <a:cs typeface="Arial"/>
              </a:rPr>
              <a:t>improving,</a:t>
            </a:r>
            <a:r>
              <a:rPr sz="1000" i="1" spc="-20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sz="1000" i="1" spc="-10" dirty="0" smtClean="0">
                <a:solidFill>
                  <a:srgbClr val="6B8989"/>
                </a:solidFill>
                <a:latin typeface="Arial"/>
                <a:cs typeface="Arial"/>
              </a:rPr>
              <a:t>swarm</a:t>
            </a:r>
            <a:r>
              <a:rPr lang="en-US" sz="1000" i="1" spc="-10" dirty="0">
                <a:solidFill>
                  <a:srgbClr val="6B8989"/>
                </a:solidFill>
                <a:latin typeface="Arial"/>
                <a:cs typeface="Arial"/>
              </a:rPr>
              <a:t> </a:t>
            </a:r>
            <a:r>
              <a:rPr lang="en-US" sz="1000" i="1" spc="-10" dirty="0" smtClean="0">
                <a:solidFill>
                  <a:srgbClr val="6B8989"/>
                </a:solidFill>
                <a:latin typeface="Arial"/>
                <a:cs typeface="Arial"/>
              </a:rPr>
              <a:t>c</a:t>
            </a:r>
            <a:r>
              <a:rPr sz="1000" i="1" spc="-10" dirty="0" smtClean="0">
                <a:solidFill>
                  <a:srgbClr val="6B8989"/>
                </a:solidFill>
                <a:latin typeface="Arial"/>
                <a:cs typeface="Arial"/>
              </a:rPr>
              <a:t>onverging</a:t>
            </a:r>
            <a:r>
              <a:rPr lang="en-US" sz="100" dirty="0">
                <a:latin typeface="Arial"/>
                <a:cs typeface="Arial"/>
              </a:rPr>
              <a:t/>
            </a:r>
            <a:br>
              <a:rPr lang="en-US" sz="100" dirty="0">
                <a:latin typeface="Arial"/>
                <a:cs typeface="Arial"/>
              </a:rPr>
            </a:br>
            <a:endParaRPr lang="en-US" sz="1000" i="1" spc="-10" dirty="0">
              <a:solidFill>
                <a:srgbClr val="6B8989"/>
              </a:solidFill>
              <a:latin typeface="Arial"/>
              <a:cs typeface="Arial"/>
            </a:endParaRPr>
          </a:p>
        </p:txBody>
      </p: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64759" y="4263390"/>
            <a:ext cx="914400" cy="8801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60518"/>
            <a:ext cx="9144000" cy="982980"/>
            <a:chOff x="0" y="4160518"/>
            <a:chExt cx="9144000" cy="9829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160518"/>
              <a:ext cx="731519" cy="914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55280" y="4160518"/>
              <a:ext cx="914400" cy="914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14800" y="4251960"/>
              <a:ext cx="777239" cy="7772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8041" y="4279392"/>
              <a:ext cx="914399" cy="86410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781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RESULTS</a:t>
            </a:r>
            <a:r>
              <a:rPr sz="3000" spc="-95" dirty="0"/>
              <a:t> </a:t>
            </a:r>
            <a:r>
              <a:rPr sz="3000" dirty="0"/>
              <a:t>—</a:t>
            </a:r>
            <a:r>
              <a:rPr sz="3000" spc="-70" dirty="0"/>
              <a:t> </a:t>
            </a:r>
            <a:r>
              <a:rPr sz="3000" dirty="0"/>
              <a:t>Optimal</a:t>
            </a:r>
            <a:r>
              <a:rPr sz="3000" spc="-65" dirty="0"/>
              <a:t> </a:t>
            </a:r>
            <a:r>
              <a:rPr sz="3000" dirty="0"/>
              <a:t>Policy</a:t>
            </a:r>
            <a:r>
              <a:rPr sz="3000" spc="-85" dirty="0"/>
              <a:t> </a:t>
            </a:r>
            <a:r>
              <a:rPr sz="3000" spc="-10" dirty="0"/>
              <a:t>Found</a:t>
            </a:r>
            <a:endParaRPr sz="3000"/>
          </a:p>
        </p:txBody>
      </p:sp>
      <p:grpSp>
        <p:nvGrpSpPr>
          <p:cNvPr id="8" name="object 8"/>
          <p:cNvGrpSpPr/>
          <p:nvPr/>
        </p:nvGrpSpPr>
        <p:grpSpPr>
          <a:xfrm>
            <a:off x="228600" y="719327"/>
            <a:ext cx="8686800" cy="579120"/>
            <a:chOff x="228600" y="719327"/>
            <a:chExt cx="8686800" cy="579120"/>
          </a:xfrm>
        </p:grpSpPr>
        <p:sp>
          <p:nvSpPr>
            <p:cNvPr id="9" name="object 9"/>
            <p:cNvSpPr/>
            <p:nvPr/>
          </p:nvSpPr>
          <p:spPr>
            <a:xfrm>
              <a:off x="228600" y="749807"/>
              <a:ext cx="8686800" cy="548640"/>
            </a:xfrm>
            <a:custGeom>
              <a:avLst/>
              <a:gdLst/>
              <a:ahLst/>
              <a:cxnLst/>
              <a:rect l="l" t="t" r="r" b="b"/>
              <a:pathLst>
                <a:path w="8686800" h="548640">
                  <a:moveTo>
                    <a:pt x="868680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8686800" y="548639"/>
                  </a:lnTo>
                  <a:lnTo>
                    <a:pt x="8686800" y="0"/>
                  </a:lnTo>
                  <a:close/>
                </a:path>
              </a:pathLst>
            </a:custGeom>
            <a:solidFill>
              <a:srgbClr val="C3A6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992" y="719327"/>
              <a:ext cx="518921" cy="42595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28600" y="749808"/>
            <a:ext cx="8686800" cy="512961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596900">
              <a:lnSpc>
                <a:spcPts val="1895"/>
              </a:lnSpc>
              <a:spcBef>
                <a:spcPts val="200"/>
              </a:spcBef>
            </a:pP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Key</a:t>
            </a:r>
            <a:r>
              <a:rPr sz="1600" b="1" spc="-6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Insight:</a:t>
            </a:r>
            <a:r>
              <a:rPr sz="1600" b="1" spc="-2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2D35"/>
                </a:solidFill>
                <a:latin typeface="Arial"/>
                <a:cs typeface="Arial"/>
              </a:rPr>
              <a:t>University</a:t>
            </a:r>
            <a:r>
              <a:rPr sz="1600" b="1" spc="-6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Area</a:t>
            </a:r>
            <a:r>
              <a:rPr sz="1600" b="1" spc="-1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(risk</a:t>
            </a:r>
            <a:r>
              <a:rPr sz="1600" b="1" spc="-2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1.5</a:t>
            </a:r>
            <a:r>
              <a:rPr sz="1600" b="1" dirty="0" smtClean="0">
                <a:solidFill>
                  <a:srgbClr val="1A2D35"/>
                </a:solidFill>
                <a:latin typeface="Arial"/>
                <a:cs typeface="Arial"/>
              </a:rPr>
              <a:t>,</a:t>
            </a:r>
            <a:r>
              <a:rPr lang="en-US" sz="1600" b="1" dirty="0" smtClean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 smtClean="0">
                <a:solidFill>
                  <a:srgbClr val="1A2D35"/>
                </a:solidFill>
                <a:latin typeface="Arial"/>
                <a:cs typeface="Arial"/>
              </a:rPr>
              <a:t>average</a:t>
            </a:r>
            <a:r>
              <a:rPr sz="1600" b="1" spc="-15" dirty="0" smtClean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loss)</a:t>
            </a:r>
            <a:r>
              <a:rPr sz="1600" b="1" spc="-4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→</a:t>
            </a:r>
            <a:r>
              <a:rPr sz="1600" b="1" spc="-4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highest</a:t>
            </a:r>
            <a:r>
              <a:rPr sz="1600" b="1" spc="-4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2D35"/>
                </a:solidFill>
                <a:latin typeface="Arial"/>
                <a:cs typeface="Arial"/>
              </a:rPr>
              <a:t>restriction.</a:t>
            </a:r>
            <a:endParaRPr sz="1600" dirty="0">
              <a:latin typeface="Arial"/>
              <a:cs typeface="Arial"/>
            </a:endParaRPr>
          </a:p>
          <a:p>
            <a:pPr marL="210185">
              <a:lnSpc>
                <a:spcPts val="1895"/>
              </a:lnSpc>
            </a:pP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Industrial</a:t>
            </a:r>
            <a:r>
              <a:rPr sz="1600" b="1" spc="-1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Zone</a:t>
            </a:r>
            <a:r>
              <a:rPr sz="1600" b="1" spc="-5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(risk</a:t>
            </a:r>
            <a:r>
              <a:rPr sz="1600" b="1" spc="-40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0.8,</a:t>
            </a:r>
            <a:r>
              <a:rPr sz="1600" b="1" spc="-4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very</a:t>
            </a:r>
            <a:r>
              <a:rPr sz="1600" b="1" spc="-3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expensive)</a:t>
            </a:r>
            <a:r>
              <a:rPr sz="1600" b="1" spc="-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→</a:t>
            </a:r>
            <a:r>
              <a:rPr sz="1600" b="1" spc="-4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1A2D35"/>
                </a:solidFill>
                <a:latin typeface="Arial"/>
                <a:cs typeface="Arial"/>
              </a:rPr>
              <a:t>no</a:t>
            </a:r>
            <a:r>
              <a:rPr sz="1600" b="1" spc="-55" dirty="0">
                <a:solidFill>
                  <a:srgbClr val="1A2D35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1A2D35"/>
                </a:solidFill>
                <a:latin typeface="Arial"/>
                <a:cs typeface="Arial"/>
              </a:rPr>
              <a:t>restriction.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8022" y="1530344"/>
            <a:ext cx="7110794" cy="24277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A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1439"/>
            <a:ext cx="1005839" cy="12801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5280" y="45719"/>
            <a:ext cx="1188720" cy="11887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46719" y="3749040"/>
            <a:ext cx="1097279" cy="12801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3840479"/>
            <a:ext cx="822959" cy="109728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7360" y="411480"/>
            <a:ext cx="731519" cy="73152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2393060" y="-118854"/>
            <a:ext cx="4329430" cy="1166495"/>
          </a:xfrm>
          <a:prstGeom prst="rect">
            <a:avLst/>
          </a:prstGeom>
        </p:spPr>
        <p:txBody>
          <a:bodyPr vert="horz" wrap="square" lIns="0" tIns="23685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64"/>
              </a:spcBef>
            </a:pPr>
            <a:r>
              <a:rPr sz="3800" spc="114" dirty="0">
                <a:solidFill>
                  <a:srgbClr val="FFFFFF"/>
                </a:solidFill>
              </a:rPr>
              <a:t>PSO</a:t>
            </a:r>
            <a:r>
              <a:rPr sz="3800" spc="395" dirty="0">
                <a:solidFill>
                  <a:srgbClr val="FFFFFF"/>
                </a:solidFill>
              </a:rPr>
              <a:t> </a:t>
            </a:r>
            <a:r>
              <a:rPr sz="3800" spc="150" dirty="0">
                <a:solidFill>
                  <a:srgbClr val="FFFFFF"/>
                </a:solidFill>
              </a:rPr>
              <a:t>SUMMARY</a:t>
            </a:r>
            <a:endParaRPr sz="3800"/>
          </a:p>
          <a:p>
            <a:pPr marL="29209" algn="ctr">
              <a:lnSpc>
                <a:spcPct val="100000"/>
              </a:lnSpc>
              <a:spcBef>
                <a:spcPts val="735"/>
              </a:spcBef>
            </a:pPr>
            <a:r>
              <a:rPr sz="1600" b="1" dirty="0">
                <a:solidFill>
                  <a:srgbClr val="093C49"/>
                </a:solidFill>
                <a:latin typeface="Arial"/>
                <a:cs typeface="Arial"/>
              </a:rPr>
              <a:t>Epidemic</a:t>
            </a:r>
            <a:r>
              <a:rPr sz="1600" b="1" spc="-30" dirty="0">
                <a:solidFill>
                  <a:srgbClr val="093C4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93C49"/>
                </a:solidFill>
                <a:latin typeface="Arial"/>
                <a:cs typeface="Arial"/>
              </a:rPr>
              <a:t>Control</a:t>
            </a:r>
            <a:r>
              <a:rPr sz="1600" b="1" spc="-15" dirty="0">
                <a:solidFill>
                  <a:srgbClr val="093C4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93C49"/>
                </a:solidFill>
                <a:latin typeface="Arial"/>
                <a:cs typeface="Arial"/>
              </a:rPr>
              <a:t>—</a:t>
            </a:r>
            <a:r>
              <a:rPr sz="1600" b="1" spc="-30" dirty="0">
                <a:solidFill>
                  <a:srgbClr val="093C49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93C49"/>
                </a:solidFill>
                <a:latin typeface="Arial"/>
                <a:cs typeface="Arial"/>
              </a:rPr>
              <a:t>Key</a:t>
            </a:r>
            <a:r>
              <a:rPr sz="1600" b="1" spc="-45" dirty="0">
                <a:solidFill>
                  <a:srgbClr val="093C49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093C49"/>
                </a:solidFill>
                <a:latin typeface="Arial"/>
                <a:cs typeface="Arial"/>
              </a:rPr>
              <a:t>Takeaways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9852" y="1126197"/>
            <a:ext cx="8400415" cy="793115"/>
            <a:chOff x="339852" y="1126197"/>
            <a:chExt cx="8400415" cy="79311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852" y="1126197"/>
              <a:ext cx="8400288" cy="79251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02920" y="1234440"/>
              <a:ext cx="8138159" cy="530860"/>
            </a:xfrm>
            <a:custGeom>
              <a:avLst/>
              <a:gdLst/>
              <a:ahLst/>
              <a:cxnLst/>
              <a:rect l="l" t="t" r="r" b="b"/>
              <a:pathLst>
                <a:path w="8138159" h="530860">
                  <a:moveTo>
                    <a:pt x="8138159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8138159" y="530351"/>
                  </a:lnTo>
                  <a:lnTo>
                    <a:pt x="813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4360" y="1271016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6B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29081" y="1393901"/>
            <a:ext cx="19939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157E7E"/>
                </a:solidFill>
                <a:latin typeface="Arial Black"/>
                <a:cs typeface="Arial Black"/>
              </a:rPr>
              <a:t>01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62176" y="1390853"/>
            <a:ext cx="54883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6B6B"/>
                </a:solidFill>
                <a:latin typeface="Arial"/>
                <a:cs typeface="Arial"/>
              </a:rPr>
              <a:t>Representation:</a:t>
            </a:r>
            <a:r>
              <a:rPr sz="1300" b="1" spc="370" dirty="0">
                <a:solidFill>
                  <a:srgbClr val="FF6B6B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Each</a:t>
            </a:r>
            <a:r>
              <a:rPr sz="1200" spc="-4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particle</a:t>
            </a:r>
            <a:r>
              <a:rPr sz="1200" spc="-4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=</a:t>
            </a:r>
            <a:r>
              <a:rPr sz="1200" spc="-3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one</a:t>
            </a:r>
            <a:r>
              <a:rPr sz="1200" spc="-3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8-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zone</a:t>
            </a:r>
            <a:r>
              <a:rPr sz="1200" spc="-4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restriction</a:t>
            </a:r>
            <a:r>
              <a:rPr sz="1200" spc="-3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policy</a:t>
            </a:r>
            <a:r>
              <a:rPr sz="1200" spc="-5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(real</a:t>
            </a:r>
            <a:r>
              <a:rPr sz="1200" spc="-3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values</a:t>
            </a:r>
            <a:r>
              <a:rPr sz="1200" spc="-2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0–1)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39852" y="1747989"/>
            <a:ext cx="8400415" cy="793115"/>
            <a:chOff x="339852" y="1747989"/>
            <a:chExt cx="8400415" cy="793115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852" y="1747989"/>
              <a:ext cx="8400288" cy="79251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02920" y="1856231"/>
              <a:ext cx="8138159" cy="530860"/>
            </a:xfrm>
            <a:custGeom>
              <a:avLst/>
              <a:gdLst/>
              <a:ahLst/>
              <a:cxnLst/>
              <a:rect l="l" t="t" r="r" b="b"/>
              <a:pathLst>
                <a:path w="8138159" h="530860">
                  <a:moveTo>
                    <a:pt x="8138159" y="0"/>
                  </a:moveTo>
                  <a:lnTo>
                    <a:pt x="0" y="0"/>
                  </a:lnTo>
                  <a:lnTo>
                    <a:pt x="0" y="530352"/>
                  </a:lnTo>
                  <a:lnTo>
                    <a:pt x="8138159" y="530352"/>
                  </a:lnTo>
                  <a:lnTo>
                    <a:pt x="813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94360" y="189280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D1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29081" y="2016379"/>
            <a:ext cx="1993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157E7E"/>
                </a:solidFill>
                <a:latin typeface="Arial Black"/>
                <a:cs typeface="Arial Black"/>
              </a:rPr>
              <a:t>02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62176" y="2013330"/>
            <a:ext cx="52063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D166"/>
                </a:solidFill>
                <a:latin typeface="Arial"/>
                <a:cs typeface="Arial"/>
              </a:rPr>
              <a:t>Fitness:</a:t>
            </a:r>
            <a:r>
              <a:rPr sz="1300" b="1" spc="360" dirty="0">
                <a:solidFill>
                  <a:srgbClr val="FFD16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Minimize</a:t>
            </a:r>
            <a:r>
              <a:rPr sz="1200" spc="-2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infections</a:t>
            </a:r>
            <a:r>
              <a:rPr sz="1200" spc="-5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+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cost</a:t>
            </a:r>
            <a:r>
              <a:rPr sz="1200" spc="-1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using</a:t>
            </a:r>
            <a:r>
              <a:rPr sz="1200" spc="-4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eff_R,</a:t>
            </a:r>
            <a:r>
              <a:rPr sz="1200" spc="-5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attack</a:t>
            </a:r>
            <a:r>
              <a:rPr sz="1200" spc="-2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rate,</a:t>
            </a:r>
            <a:r>
              <a:rPr sz="1200" spc="-2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residual</a:t>
            </a:r>
            <a:r>
              <a:rPr sz="1200" spc="-5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spread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9852" y="2369781"/>
            <a:ext cx="8400415" cy="793115"/>
            <a:chOff x="339852" y="2369781"/>
            <a:chExt cx="8400415" cy="793115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852" y="2369781"/>
              <a:ext cx="8400288" cy="79251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02920" y="2478023"/>
              <a:ext cx="8138159" cy="530860"/>
            </a:xfrm>
            <a:custGeom>
              <a:avLst/>
              <a:gdLst/>
              <a:ahLst/>
              <a:cxnLst/>
              <a:rect l="l" t="t" r="r" b="b"/>
              <a:pathLst>
                <a:path w="8138159" h="530860">
                  <a:moveTo>
                    <a:pt x="8138159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8138159" y="530351"/>
                  </a:lnTo>
                  <a:lnTo>
                    <a:pt x="813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4360" y="25146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A19B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9081" y="2638425"/>
            <a:ext cx="1993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157E7E"/>
                </a:solidFill>
                <a:latin typeface="Arial Black"/>
                <a:cs typeface="Arial Black"/>
              </a:rPr>
              <a:t>03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62176" y="2635376"/>
            <a:ext cx="542988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A19BFD"/>
                </a:solidFill>
                <a:latin typeface="Arial"/>
                <a:cs typeface="Arial"/>
              </a:rPr>
              <a:t>Velocity:</a:t>
            </a:r>
            <a:r>
              <a:rPr sz="1300" b="1" spc="365" dirty="0">
                <a:solidFill>
                  <a:srgbClr val="A19BFD"/>
                </a:solidFill>
                <a:latin typeface="Arial"/>
                <a:cs typeface="Arial"/>
              </a:rPr>
              <a:t> </a:t>
            </a:r>
            <a:r>
              <a:rPr sz="1200" dirty="0" smtClean="0">
                <a:solidFill>
                  <a:srgbClr val="1A2D35"/>
                </a:solidFill>
                <a:latin typeface="Arial MT"/>
                <a:cs typeface="Arial MT"/>
              </a:rPr>
              <a:t>w=0.5</a:t>
            </a:r>
            <a:r>
              <a:rPr lang="en-US" sz="1200" spc="-30" dirty="0" smtClean="0">
                <a:solidFill>
                  <a:srgbClr val="1A2D35"/>
                </a:solidFill>
                <a:latin typeface="Arial MT"/>
                <a:cs typeface="Arial MT"/>
              </a:rPr>
              <a:t>, </a:t>
            </a:r>
            <a:r>
              <a:rPr sz="1200" dirty="0" smtClean="0">
                <a:solidFill>
                  <a:srgbClr val="1A2D35"/>
                </a:solidFill>
                <a:latin typeface="Arial MT"/>
                <a:cs typeface="Arial MT"/>
              </a:rPr>
              <a:t>c1=1.5</a:t>
            </a:r>
            <a:r>
              <a:rPr lang="en-US" sz="1200" spc="-40" dirty="0" smtClean="0">
                <a:solidFill>
                  <a:srgbClr val="1A2D35"/>
                </a:solidFill>
                <a:latin typeface="Arial MT"/>
                <a:cs typeface="Arial MT"/>
              </a:rPr>
              <a:t>, </a:t>
            </a:r>
            <a:r>
              <a:rPr sz="1200" dirty="0" smtClean="0">
                <a:solidFill>
                  <a:srgbClr val="1A2D35"/>
                </a:solidFill>
                <a:latin typeface="Arial MT"/>
                <a:cs typeface="Arial MT"/>
              </a:rPr>
              <a:t>c2=1.5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339852" y="2991573"/>
            <a:ext cx="8400415" cy="793115"/>
            <a:chOff x="339852" y="2991573"/>
            <a:chExt cx="8400415" cy="79311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852" y="2991573"/>
              <a:ext cx="8400288" cy="79251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02920" y="3099816"/>
              <a:ext cx="8138159" cy="530860"/>
            </a:xfrm>
            <a:custGeom>
              <a:avLst/>
              <a:gdLst/>
              <a:ahLst/>
              <a:cxnLst/>
              <a:rect l="l" t="t" r="r" b="b"/>
              <a:pathLst>
                <a:path w="8138159" h="530860">
                  <a:moveTo>
                    <a:pt x="8138159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8138159" y="530351"/>
                  </a:lnTo>
                  <a:lnTo>
                    <a:pt x="813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4360" y="3136392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3"/>
                  </a:lnTo>
                  <a:lnTo>
                    <a:pt x="356411" y="418154"/>
                  </a:lnTo>
                  <a:lnTo>
                    <a:pt x="390244" y="390239"/>
                  </a:lnTo>
                  <a:lnTo>
                    <a:pt x="418158" y="356406"/>
                  </a:lnTo>
                  <a:lnTo>
                    <a:pt x="439235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54EE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29081" y="3260216"/>
            <a:ext cx="1993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157E7E"/>
                </a:solidFill>
                <a:latin typeface="Arial Black"/>
                <a:cs typeface="Arial Black"/>
              </a:rPr>
              <a:t>04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62176" y="3257169"/>
            <a:ext cx="6263005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54EEC4"/>
                </a:solidFill>
                <a:latin typeface="Arial"/>
                <a:cs typeface="Arial"/>
              </a:rPr>
              <a:t>pbest</a:t>
            </a:r>
            <a:r>
              <a:rPr sz="1300" b="1" spc="5" dirty="0">
                <a:solidFill>
                  <a:srgbClr val="54EEC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54EEC4"/>
                </a:solidFill>
                <a:latin typeface="Arial"/>
                <a:cs typeface="Arial"/>
              </a:rPr>
              <a:t>&amp;</a:t>
            </a:r>
            <a:r>
              <a:rPr sz="1300" b="1" spc="-25" dirty="0">
                <a:solidFill>
                  <a:srgbClr val="54EEC4"/>
                </a:solidFill>
                <a:latin typeface="Arial"/>
                <a:cs typeface="Arial"/>
              </a:rPr>
              <a:t> </a:t>
            </a:r>
            <a:r>
              <a:rPr sz="1300" b="1" dirty="0">
                <a:solidFill>
                  <a:srgbClr val="54EEC4"/>
                </a:solidFill>
                <a:latin typeface="Arial"/>
                <a:cs typeface="Arial"/>
              </a:rPr>
              <a:t>gbest:</a:t>
            </a:r>
            <a:r>
              <a:rPr sz="1300" b="1" spc="360" dirty="0">
                <a:solidFill>
                  <a:srgbClr val="54EEC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Personal</a:t>
            </a:r>
            <a:r>
              <a:rPr sz="1200" spc="-3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memory</a:t>
            </a:r>
            <a:r>
              <a:rPr sz="1200" spc="-5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+</a:t>
            </a:r>
            <a:r>
              <a:rPr sz="1200" spc="-1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swarm</a:t>
            </a:r>
            <a:r>
              <a:rPr sz="1200" spc="-3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knowledge</a:t>
            </a:r>
            <a:r>
              <a:rPr sz="1200" spc="-4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guide</a:t>
            </a:r>
            <a:r>
              <a:rPr sz="1200" spc="-4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all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lang="en-US" sz="1200" dirty="0">
                <a:solidFill>
                  <a:srgbClr val="1A2D35"/>
                </a:solidFill>
                <a:latin typeface="Arial MT"/>
                <a:cs typeface="Arial MT"/>
              </a:rPr>
              <a:t>5</a:t>
            </a:r>
            <a:r>
              <a:rPr sz="1200" dirty="0" smtClean="0">
                <a:solidFill>
                  <a:srgbClr val="1A2D35"/>
                </a:solidFill>
                <a:latin typeface="Arial MT"/>
                <a:cs typeface="Arial MT"/>
              </a:rPr>
              <a:t>0</a:t>
            </a:r>
            <a:r>
              <a:rPr sz="1200" spc="-25" dirty="0" smtClean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particles</a:t>
            </a:r>
            <a:r>
              <a:rPr sz="1200" spc="-4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every</a:t>
            </a:r>
            <a:r>
              <a:rPr sz="1200" spc="-2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iteration</a:t>
            </a:r>
            <a:endParaRPr sz="1200" dirty="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9852" y="3613403"/>
            <a:ext cx="8400415" cy="793115"/>
            <a:chOff x="339852" y="3613403"/>
            <a:chExt cx="8400415" cy="793115"/>
          </a:xfrm>
        </p:grpSpPr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9852" y="3613403"/>
              <a:ext cx="8400288" cy="79251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02920" y="3721607"/>
              <a:ext cx="8138159" cy="530860"/>
            </a:xfrm>
            <a:custGeom>
              <a:avLst/>
              <a:gdLst/>
              <a:ahLst/>
              <a:cxnLst/>
              <a:rect l="l" t="t" r="r" b="b"/>
              <a:pathLst>
                <a:path w="8138159" h="530860">
                  <a:moveTo>
                    <a:pt x="8138159" y="0"/>
                  </a:moveTo>
                  <a:lnTo>
                    <a:pt x="0" y="0"/>
                  </a:lnTo>
                  <a:lnTo>
                    <a:pt x="0" y="530352"/>
                  </a:lnTo>
                  <a:lnTo>
                    <a:pt x="8138159" y="530352"/>
                  </a:lnTo>
                  <a:lnTo>
                    <a:pt x="81381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4360" y="3758183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599"/>
                  </a:lnTo>
                  <a:lnTo>
                    <a:pt x="4644" y="274670"/>
                  </a:lnTo>
                  <a:lnTo>
                    <a:pt x="17964" y="317580"/>
                  </a:lnTo>
                  <a:lnTo>
                    <a:pt x="39041" y="356411"/>
                  </a:lnTo>
                  <a:lnTo>
                    <a:pt x="66955" y="390244"/>
                  </a:lnTo>
                  <a:lnTo>
                    <a:pt x="100788" y="418158"/>
                  </a:lnTo>
                  <a:lnTo>
                    <a:pt x="139619" y="439235"/>
                  </a:lnTo>
                  <a:lnTo>
                    <a:pt x="182529" y="452555"/>
                  </a:lnTo>
                  <a:lnTo>
                    <a:pt x="228600" y="457199"/>
                  </a:lnTo>
                  <a:lnTo>
                    <a:pt x="274670" y="452555"/>
                  </a:lnTo>
                  <a:lnTo>
                    <a:pt x="317580" y="439235"/>
                  </a:lnTo>
                  <a:lnTo>
                    <a:pt x="356411" y="418158"/>
                  </a:lnTo>
                  <a:lnTo>
                    <a:pt x="390244" y="390244"/>
                  </a:lnTo>
                  <a:lnTo>
                    <a:pt x="418158" y="356411"/>
                  </a:lnTo>
                  <a:lnTo>
                    <a:pt x="439235" y="317580"/>
                  </a:lnTo>
                  <a:lnTo>
                    <a:pt x="452555" y="274670"/>
                  </a:lnTo>
                  <a:lnTo>
                    <a:pt x="457200" y="228599"/>
                  </a:lnTo>
                  <a:lnTo>
                    <a:pt x="452555" y="182533"/>
                  </a:lnTo>
                  <a:lnTo>
                    <a:pt x="439235" y="139624"/>
                  </a:lnTo>
                  <a:lnTo>
                    <a:pt x="418158" y="100793"/>
                  </a:lnTo>
                  <a:lnTo>
                    <a:pt x="390244" y="66960"/>
                  </a:lnTo>
                  <a:lnTo>
                    <a:pt x="356411" y="39045"/>
                  </a:lnTo>
                  <a:lnTo>
                    <a:pt x="317580" y="17966"/>
                  </a:lnTo>
                  <a:lnTo>
                    <a:pt x="274670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29081" y="3882339"/>
            <a:ext cx="19939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157E7E"/>
                </a:solidFill>
                <a:latin typeface="Arial Black"/>
                <a:cs typeface="Arial Black"/>
              </a:rPr>
              <a:t>05</a:t>
            </a:r>
            <a:endParaRPr sz="1100">
              <a:latin typeface="Arial Black"/>
              <a:cs typeface="Arial Black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62176" y="3879291"/>
            <a:ext cx="5628640" cy="21223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FFFF00"/>
                </a:solidFill>
                <a:latin typeface="Arial"/>
                <a:cs typeface="Arial"/>
              </a:rPr>
              <a:t>Convergence:</a:t>
            </a:r>
            <a:r>
              <a:rPr sz="1300" b="1" spc="360" dirty="0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Stops</a:t>
            </a:r>
            <a:r>
              <a:rPr sz="1200" spc="-3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after</a:t>
            </a:r>
            <a:r>
              <a:rPr sz="1200" spc="-4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40</a:t>
            </a:r>
            <a:r>
              <a:rPr sz="1200" spc="-4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iterations</a:t>
            </a:r>
            <a:r>
              <a:rPr sz="1200" spc="-5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of</a:t>
            </a:r>
            <a:r>
              <a:rPr sz="1200" spc="-3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no</a:t>
            </a:r>
            <a:r>
              <a:rPr sz="1200" spc="-3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meaningful</a:t>
            </a:r>
            <a:r>
              <a:rPr sz="1200" spc="-6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improvement</a:t>
            </a:r>
            <a:r>
              <a:rPr sz="1200" spc="-55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1A2D35"/>
                </a:solidFill>
                <a:latin typeface="Arial MT"/>
                <a:cs typeface="Arial MT"/>
              </a:rPr>
              <a:t>(stall</a:t>
            </a:r>
            <a:r>
              <a:rPr sz="1200" spc="-30" dirty="0">
                <a:solidFill>
                  <a:srgbClr val="1A2D35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A2D35"/>
                </a:solidFill>
                <a:latin typeface="Arial MT"/>
                <a:cs typeface="Arial MT"/>
              </a:rPr>
              <a:t>limit)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7801" y="4339538"/>
            <a:ext cx="7847965" cy="499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1895"/>
              </a:lnSpc>
              <a:spcBef>
                <a:spcPts val="95"/>
              </a:spcBef>
            </a:pP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PSO</a:t>
            </a:r>
            <a:r>
              <a:rPr sz="1400" b="1" i="1" spc="-6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efficiently</a:t>
            </a:r>
            <a:r>
              <a:rPr sz="1400" b="1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finds</a:t>
            </a:r>
            <a:r>
              <a:rPr sz="1400" b="1" i="1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the</a:t>
            </a:r>
            <a:r>
              <a:rPr sz="1400" b="1" i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optimal</a:t>
            </a:r>
            <a:r>
              <a:rPr sz="1400" b="1" i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policy</a:t>
            </a:r>
            <a:r>
              <a:rPr sz="1400" b="1" i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without</a:t>
            </a:r>
            <a:r>
              <a:rPr sz="1400" b="1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checking</a:t>
            </a:r>
            <a:r>
              <a:rPr sz="1400" b="1" i="1" spc="-4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all</a:t>
            </a:r>
            <a:r>
              <a:rPr sz="1400" b="1" i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combinations</a:t>
            </a:r>
            <a:r>
              <a:rPr sz="1400" b="1" i="1" spc="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—</a:t>
            </a:r>
            <a:r>
              <a:rPr sz="1400" b="1" i="1" spc="-5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spc="-20" dirty="0">
                <a:solidFill>
                  <a:schemeClr val="bg1"/>
                </a:solidFill>
                <a:latin typeface="Arial"/>
                <a:cs typeface="Arial"/>
              </a:rPr>
              <a:t>this</a:t>
            </a:r>
            <a:endParaRPr sz="1400" dirty="0">
              <a:solidFill>
                <a:schemeClr val="bg1"/>
              </a:solidFill>
              <a:latin typeface="Arial"/>
              <a:cs typeface="Arial"/>
            </a:endParaRPr>
          </a:p>
          <a:p>
            <a:pPr marL="635" algn="ctr">
              <a:lnSpc>
                <a:spcPts val="1895"/>
              </a:lnSpc>
            </a:pP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is</a:t>
            </a:r>
            <a:r>
              <a:rPr sz="1400" b="1" i="1" spc="-3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its</a:t>
            </a:r>
            <a:r>
              <a:rPr sz="1400" b="1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core</a:t>
            </a:r>
            <a:r>
              <a:rPr sz="1400" b="1" i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advantage</a:t>
            </a:r>
            <a:r>
              <a:rPr sz="1400" b="1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over</a:t>
            </a:r>
            <a:r>
              <a:rPr sz="1400" b="1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brute</a:t>
            </a:r>
            <a:r>
              <a:rPr sz="1400" b="1" i="1" spc="-2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dirty="0">
                <a:solidFill>
                  <a:schemeClr val="bg1"/>
                </a:solidFill>
                <a:latin typeface="Arial"/>
                <a:cs typeface="Arial"/>
              </a:rPr>
              <a:t>force</a:t>
            </a:r>
            <a:r>
              <a:rPr sz="1400" b="1" i="1" spc="-25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00" b="1" i="1" spc="-10" dirty="0">
                <a:solidFill>
                  <a:schemeClr val="bg1"/>
                </a:solidFill>
                <a:latin typeface="Arial"/>
                <a:cs typeface="Arial"/>
              </a:rPr>
              <a:t>search</a:t>
            </a:r>
            <a:endParaRPr sz="1400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945</Words>
  <Application>Microsoft Office PowerPoint</Application>
  <PresentationFormat>On-screen Show (16:9)</PresentationFormat>
  <Paragraphs>172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Black</vt:lpstr>
      <vt:lpstr>Arial MT</vt:lpstr>
      <vt:lpstr>Calibri</vt:lpstr>
      <vt:lpstr>Cambria Math</vt:lpstr>
      <vt:lpstr>Consolas</vt:lpstr>
      <vt:lpstr>Segoe UI Symbol</vt:lpstr>
      <vt:lpstr>Times New Roman</vt:lpstr>
      <vt:lpstr>Office Theme</vt:lpstr>
      <vt:lpstr>EPIDEMIC CONTROL</vt:lpstr>
      <vt:lpstr>THE PROBLEM</vt:lpstr>
      <vt:lpstr>CITY ZONES Problem Setup</vt:lpstr>
      <vt:lpstr>STEP 1 — Representation</vt:lpstr>
      <vt:lpstr>STEP 2 — Fitness Function</vt:lpstr>
      <vt:lpstr>STEP 3 — Velocity &amp; Position Update</vt:lpstr>
      <vt:lpstr>STEP 4 — pbest, gbest &amp; Convergence</vt:lpstr>
      <vt:lpstr>RESULTS — Optimal Policy Found</vt:lpstr>
      <vt:lpstr>PSO SUMMARY Epidemic Control —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Sigma</cp:lastModifiedBy>
  <cp:revision>34</cp:revision>
  <dcterms:created xsi:type="dcterms:W3CDTF">2026-04-21T07:41:02Z</dcterms:created>
  <dcterms:modified xsi:type="dcterms:W3CDTF">2026-04-21T08:25:11Z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2026-04-21T00:00:00Z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2026-04-21T00:00:00Z</vt:filetime>
  </property>
  <property fmtid="{D5CDD505-2E9C-101B-9397-08002B2CF9AE}" pid="5" name="Producer">
    <vt:lpwstr>Microsoft® PowerPoint® LTSC</vt:lpwstr>
  </property>
</Properties>
</file>